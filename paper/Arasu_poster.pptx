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4" r:id="rId2"/>
  </p:sldIdLst>
  <p:sldSz cx="21945600" cy="32918400"/>
  <p:notesSz cx="9144000" cy="14605000"/>
  <p:custDataLst>
    <p:tags r:id="rId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43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326532" algn="l" rtl="0" fontAlgn="base">
      <a:spcBef>
        <a:spcPct val="0"/>
      </a:spcBef>
      <a:spcAft>
        <a:spcPct val="0"/>
      </a:spcAft>
      <a:defRPr sz="1643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653064" algn="l" rtl="0" fontAlgn="base">
      <a:spcBef>
        <a:spcPct val="0"/>
      </a:spcBef>
      <a:spcAft>
        <a:spcPct val="0"/>
      </a:spcAft>
      <a:defRPr sz="1643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979597" algn="l" rtl="0" fontAlgn="base">
      <a:spcBef>
        <a:spcPct val="0"/>
      </a:spcBef>
      <a:spcAft>
        <a:spcPct val="0"/>
      </a:spcAft>
      <a:defRPr sz="1643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306129" algn="l" rtl="0" fontAlgn="base">
      <a:spcBef>
        <a:spcPct val="0"/>
      </a:spcBef>
      <a:spcAft>
        <a:spcPct val="0"/>
      </a:spcAft>
      <a:defRPr sz="1643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1632661" algn="l" defTabSz="653064" rtl="0" eaLnBrk="1" latinLnBrk="0" hangingPunct="1">
      <a:defRPr sz="1643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1959193" algn="l" defTabSz="653064" rtl="0" eaLnBrk="1" latinLnBrk="0" hangingPunct="1">
      <a:defRPr sz="1643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2285726" algn="l" defTabSz="653064" rtl="0" eaLnBrk="1" latinLnBrk="0" hangingPunct="1">
      <a:defRPr sz="1643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2612258" algn="l" defTabSz="653064" rtl="0" eaLnBrk="1" latinLnBrk="0" hangingPunct="1">
      <a:defRPr sz="1643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6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95959"/>
    <a:srgbClr val="8ADE4C"/>
    <a:srgbClr val="154734"/>
    <a:srgbClr val="FF6600"/>
    <a:srgbClr val="00539F"/>
    <a:srgbClr val="FFD200"/>
    <a:srgbClr val="EEE8C5"/>
    <a:srgbClr val="B7A66D"/>
    <a:srgbClr val="980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7466" autoAdjust="0"/>
    <p:restoredTop sz="96327" autoAdjust="0"/>
  </p:normalViewPr>
  <p:slideViewPr>
    <p:cSldViewPr>
      <p:cViewPr>
        <p:scale>
          <a:sx n="60" d="100"/>
          <a:sy n="60" d="100"/>
        </p:scale>
        <p:origin x="168" y="792"/>
      </p:cViewPr>
      <p:guideLst>
        <p:guide orient="horz" pos="10368"/>
        <p:guide pos="6912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0813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678" tIns="67837" rIns="135678" bIns="67837" numCol="1" anchor="t" anchorCtr="0" compatLnSpc="1">
            <a:prstTxWarp prst="textNoShape">
              <a:avLst/>
            </a:prstTxWarp>
          </a:bodyPr>
          <a:lstStyle>
            <a:lvl1pPr defTabSz="1356848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3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3188" y="0"/>
            <a:ext cx="3960812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678" tIns="67837" rIns="135678" bIns="67837" numCol="1" anchor="t" anchorCtr="0" compatLnSpc="1">
            <a:prstTxWarp prst="textNoShape">
              <a:avLst/>
            </a:prstTxWarp>
          </a:bodyPr>
          <a:lstStyle>
            <a:lvl1pPr algn="r" defTabSz="1356848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3874750"/>
            <a:ext cx="3960813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678" tIns="67837" rIns="135678" bIns="67837" numCol="1" anchor="b" anchorCtr="0" compatLnSpc="1">
            <a:prstTxWarp prst="textNoShape">
              <a:avLst/>
            </a:prstTxWarp>
          </a:bodyPr>
          <a:lstStyle>
            <a:lvl1pPr defTabSz="1356848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5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3188" y="13874750"/>
            <a:ext cx="3960812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678" tIns="67837" rIns="135678" bIns="67837" numCol="1" anchor="b" anchorCtr="0" compatLnSpc="1">
            <a:prstTxWarp prst="textNoShape">
              <a:avLst/>
            </a:prstTxWarp>
          </a:bodyPr>
          <a:lstStyle>
            <a:lvl1pPr algn="r" defTabSz="1356848">
              <a:defRPr sz="1800"/>
            </a:lvl1pPr>
          </a:lstStyle>
          <a:p>
            <a:pPr>
              <a:defRPr/>
            </a:pPr>
            <a:fld id="{200DCCFD-C31A-42B2-922A-BCB46C970B0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858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7302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7302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B3E1A59-466F-4F41-9E5E-F7591DA63F96}" type="datetimeFigureOut">
              <a:rPr lang="en-US"/>
              <a:pPr>
                <a:defRPr/>
              </a:pPr>
              <a:t>12/4/25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46375" y="1095375"/>
            <a:ext cx="3651250" cy="5476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6937375"/>
            <a:ext cx="7315200" cy="6572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71575"/>
            <a:ext cx="3962400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13871575"/>
            <a:ext cx="3962400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678C0B9-A602-432E-A4A4-75019EB741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050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326532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653064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979597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1306129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632661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9193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726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2258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746375" y="1095375"/>
            <a:ext cx="3651250" cy="54768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ABACDFE-9516-43F6-ADF5-240A21B36C6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58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6062" y="10226491"/>
            <a:ext cx="18653478" cy="705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92123" y="18654435"/>
            <a:ext cx="15361355" cy="8411135"/>
          </a:xfrm>
        </p:spPr>
        <p:txBody>
          <a:bodyPr/>
          <a:lstStyle>
            <a:lvl1pPr marL="0" indent="0" algn="ctr">
              <a:buNone/>
              <a:defRPr/>
            </a:lvl1pPr>
            <a:lvl2pPr marL="231835" indent="0" algn="ctr">
              <a:buNone/>
              <a:defRPr/>
            </a:lvl2pPr>
            <a:lvl3pPr marL="463670" indent="0" algn="ctr">
              <a:buNone/>
              <a:defRPr/>
            </a:lvl3pPr>
            <a:lvl4pPr marL="695505" indent="0" algn="ctr">
              <a:buNone/>
              <a:defRPr/>
            </a:lvl4pPr>
            <a:lvl5pPr marL="927340" indent="0" algn="ctr">
              <a:buNone/>
              <a:defRPr/>
            </a:lvl5pPr>
            <a:lvl6pPr marL="1159175" indent="0" algn="ctr">
              <a:buNone/>
              <a:defRPr/>
            </a:lvl6pPr>
            <a:lvl7pPr marL="1391009" indent="0" algn="ctr">
              <a:buNone/>
              <a:defRPr/>
            </a:lvl7pPr>
            <a:lvl8pPr marL="1622844" indent="0" algn="ctr">
              <a:buNone/>
              <a:defRPr/>
            </a:lvl8pPr>
            <a:lvl9pPr marL="185467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6B7B9-B881-4E01-AB78-FCC522EC70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8C3E81-7E51-443F-B40F-5999532D29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551" y="21153907"/>
            <a:ext cx="18653478" cy="6536951"/>
          </a:xfrm>
        </p:spPr>
        <p:txBody>
          <a:bodyPr anchor="t"/>
          <a:lstStyle>
            <a:lvl1pPr algn="l">
              <a:defRPr sz="202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3551" y="13953005"/>
            <a:ext cx="18653478" cy="7200901"/>
          </a:xfrm>
        </p:spPr>
        <p:txBody>
          <a:bodyPr anchor="b"/>
          <a:lstStyle>
            <a:lvl1pPr marL="0" indent="0">
              <a:buNone/>
              <a:defRPr sz="1014"/>
            </a:lvl1pPr>
            <a:lvl2pPr marL="231835" indent="0">
              <a:buNone/>
              <a:defRPr sz="913"/>
            </a:lvl2pPr>
            <a:lvl3pPr marL="463670" indent="0">
              <a:buNone/>
              <a:defRPr sz="811"/>
            </a:lvl3pPr>
            <a:lvl4pPr marL="695505" indent="0">
              <a:buNone/>
              <a:defRPr sz="710"/>
            </a:lvl4pPr>
            <a:lvl5pPr marL="927340" indent="0">
              <a:buNone/>
              <a:defRPr sz="710"/>
            </a:lvl5pPr>
            <a:lvl6pPr marL="1159175" indent="0">
              <a:buNone/>
              <a:defRPr sz="710"/>
            </a:lvl6pPr>
            <a:lvl7pPr marL="1391009" indent="0">
              <a:buNone/>
              <a:defRPr sz="710"/>
            </a:lvl7pPr>
            <a:lvl8pPr marL="1622844" indent="0">
              <a:buNone/>
              <a:defRPr sz="710"/>
            </a:lvl8pPr>
            <a:lvl9pPr marL="1854679" indent="0">
              <a:buNone/>
              <a:defRPr sz="7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7BB88A-415D-47A2-BB40-D284E7C9FA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6061" y="9508752"/>
            <a:ext cx="9292872" cy="19752048"/>
          </a:xfrm>
        </p:spPr>
        <p:txBody>
          <a:bodyPr/>
          <a:lstStyle>
            <a:lvl1pPr>
              <a:defRPr sz="1419"/>
            </a:lvl1pPr>
            <a:lvl2pPr>
              <a:defRPr sz="1217"/>
            </a:lvl2pPr>
            <a:lvl3pPr>
              <a:defRPr sz="1014"/>
            </a:lvl3pPr>
            <a:lvl4pPr>
              <a:defRPr sz="913"/>
            </a:lvl4pPr>
            <a:lvl5pPr>
              <a:defRPr sz="913"/>
            </a:lvl5pPr>
            <a:lvl6pPr>
              <a:defRPr sz="913"/>
            </a:lvl6pPr>
            <a:lvl7pPr>
              <a:defRPr sz="913"/>
            </a:lvl7pPr>
            <a:lvl8pPr>
              <a:defRPr sz="913"/>
            </a:lvl8pPr>
            <a:lvl9pPr>
              <a:defRPr sz="9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06667" y="9508752"/>
            <a:ext cx="9292872" cy="19752048"/>
          </a:xfrm>
        </p:spPr>
        <p:txBody>
          <a:bodyPr/>
          <a:lstStyle>
            <a:lvl1pPr>
              <a:defRPr sz="1419"/>
            </a:lvl1pPr>
            <a:lvl2pPr>
              <a:defRPr sz="1217"/>
            </a:lvl2pPr>
            <a:lvl3pPr>
              <a:defRPr sz="1014"/>
            </a:lvl3pPr>
            <a:lvl4pPr>
              <a:defRPr sz="913"/>
            </a:lvl4pPr>
            <a:lvl5pPr>
              <a:defRPr sz="913"/>
            </a:lvl5pPr>
            <a:lvl6pPr>
              <a:defRPr sz="913"/>
            </a:lvl6pPr>
            <a:lvl7pPr>
              <a:defRPr sz="913"/>
            </a:lvl7pPr>
            <a:lvl8pPr>
              <a:defRPr sz="913"/>
            </a:lvl8pPr>
            <a:lvl9pPr>
              <a:defRPr sz="9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B6F26E-F264-488B-9BFB-6467C99649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140" y="1317812"/>
            <a:ext cx="19751322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140" y="7368990"/>
            <a:ext cx="9696450" cy="3070972"/>
          </a:xfrm>
        </p:spPr>
        <p:txBody>
          <a:bodyPr anchor="b"/>
          <a:lstStyle>
            <a:lvl1pPr marL="0" indent="0">
              <a:buNone/>
              <a:defRPr sz="1217" b="1"/>
            </a:lvl1pPr>
            <a:lvl2pPr marL="231835" indent="0">
              <a:buNone/>
              <a:defRPr sz="1014" b="1"/>
            </a:lvl2pPr>
            <a:lvl3pPr marL="463670" indent="0">
              <a:buNone/>
              <a:defRPr sz="913" b="1"/>
            </a:lvl3pPr>
            <a:lvl4pPr marL="695505" indent="0">
              <a:buNone/>
              <a:defRPr sz="811" b="1"/>
            </a:lvl4pPr>
            <a:lvl5pPr marL="927340" indent="0">
              <a:buNone/>
              <a:defRPr sz="811" b="1"/>
            </a:lvl5pPr>
            <a:lvl6pPr marL="1159175" indent="0">
              <a:buNone/>
              <a:defRPr sz="811" b="1"/>
            </a:lvl6pPr>
            <a:lvl7pPr marL="1391009" indent="0">
              <a:buNone/>
              <a:defRPr sz="811" b="1"/>
            </a:lvl7pPr>
            <a:lvl8pPr marL="1622844" indent="0">
              <a:buNone/>
              <a:defRPr sz="811" b="1"/>
            </a:lvl8pPr>
            <a:lvl9pPr marL="1854679" indent="0">
              <a:buNone/>
              <a:defRPr sz="8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140" y="10439963"/>
            <a:ext cx="9696450" cy="18965395"/>
          </a:xfrm>
        </p:spPr>
        <p:txBody>
          <a:bodyPr/>
          <a:lstStyle>
            <a:lvl1pPr>
              <a:defRPr sz="1217"/>
            </a:lvl1pPr>
            <a:lvl2pPr>
              <a:defRPr sz="1014"/>
            </a:lvl2pPr>
            <a:lvl3pPr>
              <a:defRPr sz="913"/>
            </a:lvl3pPr>
            <a:lvl4pPr>
              <a:defRPr sz="811"/>
            </a:lvl4pPr>
            <a:lvl5pPr>
              <a:defRPr sz="811"/>
            </a:lvl5pPr>
            <a:lvl6pPr>
              <a:defRPr sz="811"/>
            </a:lvl6pPr>
            <a:lvl7pPr>
              <a:defRPr sz="811"/>
            </a:lvl7pPr>
            <a:lvl8pPr>
              <a:defRPr sz="811"/>
            </a:lvl8pPr>
            <a:lvl9pPr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47781" y="7368990"/>
            <a:ext cx="9700683" cy="3070972"/>
          </a:xfrm>
        </p:spPr>
        <p:txBody>
          <a:bodyPr anchor="b"/>
          <a:lstStyle>
            <a:lvl1pPr marL="0" indent="0">
              <a:buNone/>
              <a:defRPr sz="1217" b="1"/>
            </a:lvl1pPr>
            <a:lvl2pPr marL="231835" indent="0">
              <a:buNone/>
              <a:defRPr sz="1014" b="1"/>
            </a:lvl2pPr>
            <a:lvl3pPr marL="463670" indent="0">
              <a:buNone/>
              <a:defRPr sz="913" b="1"/>
            </a:lvl3pPr>
            <a:lvl4pPr marL="695505" indent="0">
              <a:buNone/>
              <a:defRPr sz="811" b="1"/>
            </a:lvl4pPr>
            <a:lvl5pPr marL="927340" indent="0">
              <a:buNone/>
              <a:defRPr sz="811" b="1"/>
            </a:lvl5pPr>
            <a:lvl6pPr marL="1159175" indent="0">
              <a:buNone/>
              <a:defRPr sz="811" b="1"/>
            </a:lvl6pPr>
            <a:lvl7pPr marL="1391009" indent="0">
              <a:buNone/>
              <a:defRPr sz="811" b="1"/>
            </a:lvl7pPr>
            <a:lvl8pPr marL="1622844" indent="0">
              <a:buNone/>
              <a:defRPr sz="811" b="1"/>
            </a:lvl8pPr>
            <a:lvl9pPr marL="1854679" indent="0">
              <a:buNone/>
              <a:defRPr sz="8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47781" y="10439963"/>
            <a:ext cx="9700683" cy="18965395"/>
          </a:xfrm>
        </p:spPr>
        <p:txBody>
          <a:bodyPr/>
          <a:lstStyle>
            <a:lvl1pPr>
              <a:defRPr sz="1217"/>
            </a:lvl1pPr>
            <a:lvl2pPr>
              <a:defRPr sz="1014"/>
            </a:lvl2pPr>
            <a:lvl3pPr>
              <a:defRPr sz="913"/>
            </a:lvl3pPr>
            <a:lvl4pPr>
              <a:defRPr sz="811"/>
            </a:lvl4pPr>
            <a:lvl5pPr>
              <a:defRPr sz="811"/>
            </a:lvl5pPr>
            <a:lvl6pPr>
              <a:defRPr sz="811"/>
            </a:lvl6pPr>
            <a:lvl7pPr>
              <a:defRPr sz="811"/>
            </a:lvl7pPr>
            <a:lvl8pPr>
              <a:defRPr sz="811"/>
            </a:lvl8pPr>
            <a:lvl9pPr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A06EFA-8031-4EF1-BC03-4AFEA23F6E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6372E-CCA7-4864-B6C8-FEC249EDBF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E0BE63-3B0C-4966-B2F8-372B9CC4EAB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142" y="1311091"/>
            <a:ext cx="7219949" cy="5577168"/>
          </a:xfrm>
        </p:spPr>
        <p:txBody>
          <a:bodyPr anchor="b"/>
          <a:lstStyle>
            <a:lvl1pPr algn="l">
              <a:defRPr sz="10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0261" y="1311092"/>
            <a:ext cx="12268200" cy="28094267"/>
          </a:xfrm>
        </p:spPr>
        <p:txBody>
          <a:bodyPr/>
          <a:lstStyle>
            <a:lvl1pPr>
              <a:defRPr sz="1623"/>
            </a:lvl1pPr>
            <a:lvl2pPr>
              <a:defRPr sz="1419"/>
            </a:lvl2pPr>
            <a:lvl3pPr>
              <a:defRPr sz="1217"/>
            </a:lvl3pPr>
            <a:lvl4pPr>
              <a:defRPr sz="1014"/>
            </a:lvl4pPr>
            <a:lvl5pPr>
              <a:defRPr sz="1014"/>
            </a:lvl5pPr>
            <a:lvl6pPr>
              <a:defRPr sz="1014"/>
            </a:lvl6pPr>
            <a:lvl7pPr>
              <a:defRPr sz="1014"/>
            </a:lvl7pPr>
            <a:lvl8pPr>
              <a:defRPr sz="1014"/>
            </a:lvl8pPr>
            <a:lvl9pPr>
              <a:defRPr sz="10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142" y="6888257"/>
            <a:ext cx="7219949" cy="22517101"/>
          </a:xfrm>
        </p:spPr>
        <p:txBody>
          <a:bodyPr/>
          <a:lstStyle>
            <a:lvl1pPr marL="0" indent="0">
              <a:buNone/>
              <a:defRPr sz="710"/>
            </a:lvl1pPr>
            <a:lvl2pPr marL="231835" indent="0">
              <a:buNone/>
              <a:defRPr sz="609"/>
            </a:lvl2pPr>
            <a:lvl3pPr marL="463670" indent="0">
              <a:buNone/>
              <a:defRPr sz="507"/>
            </a:lvl3pPr>
            <a:lvl4pPr marL="695505" indent="0">
              <a:buNone/>
              <a:defRPr sz="457"/>
            </a:lvl4pPr>
            <a:lvl5pPr marL="927340" indent="0">
              <a:buNone/>
              <a:defRPr sz="457"/>
            </a:lvl5pPr>
            <a:lvl6pPr marL="1159175" indent="0">
              <a:buNone/>
              <a:defRPr sz="457"/>
            </a:lvl6pPr>
            <a:lvl7pPr marL="1391009" indent="0">
              <a:buNone/>
              <a:defRPr sz="457"/>
            </a:lvl7pPr>
            <a:lvl8pPr marL="1622844" indent="0">
              <a:buNone/>
              <a:defRPr sz="457"/>
            </a:lvl8pPr>
            <a:lvl9pPr marL="1854679" indent="0">
              <a:buNone/>
              <a:defRPr sz="4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8E862C-C8EB-4EF0-B8D5-178897BDC4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1773" y="23043221"/>
            <a:ext cx="13167078" cy="2719667"/>
          </a:xfrm>
        </p:spPr>
        <p:txBody>
          <a:bodyPr anchor="b"/>
          <a:lstStyle>
            <a:lvl1pPr algn="l">
              <a:defRPr sz="10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01773" y="2941546"/>
            <a:ext cx="13167078" cy="19750368"/>
          </a:xfrm>
        </p:spPr>
        <p:txBody>
          <a:bodyPr/>
          <a:lstStyle>
            <a:lvl1pPr marL="0" indent="0">
              <a:buNone/>
              <a:defRPr sz="1623"/>
            </a:lvl1pPr>
            <a:lvl2pPr marL="231835" indent="0">
              <a:buNone/>
              <a:defRPr sz="1419"/>
            </a:lvl2pPr>
            <a:lvl3pPr marL="463670" indent="0">
              <a:buNone/>
              <a:defRPr sz="1217"/>
            </a:lvl3pPr>
            <a:lvl4pPr marL="695505" indent="0">
              <a:buNone/>
              <a:defRPr sz="1014"/>
            </a:lvl4pPr>
            <a:lvl5pPr marL="927340" indent="0">
              <a:buNone/>
              <a:defRPr sz="1014"/>
            </a:lvl5pPr>
            <a:lvl6pPr marL="1159175" indent="0">
              <a:buNone/>
              <a:defRPr sz="1014"/>
            </a:lvl6pPr>
            <a:lvl7pPr marL="1391009" indent="0">
              <a:buNone/>
              <a:defRPr sz="1014"/>
            </a:lvl7pPr>
            <a:lvl8pPr marL="1622844" indent="0">
              <a:buNone/>
              <a:defRPr sz="1014"/>
            </a:lvl8pPr>
            <a:lvl9pPr marL="1854679" indent="0">
              <a:buNone/>
              <a:defRPr sz="1014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1773" y="25762886"/>
            <a:ext cx="13167078" cy="3864349"/>
          </a:xfrm>
        </p:spPr>
        <p:txBody>
          <a:bodyPr/>
          <a:lstStyle>
            <a:lvl1pPr marL="0" indent="0">
              <a:buNone/>
              <a:defRPr sz="710"/>
            </a:lvl1pPr>
            <a:lvl2pPr marL="231835" indent="0">
              <a:buNone/>
              <a:defRPr sz="609"/>
            </a:lvl2pPr>
            <a:lvl3pPr marL="463670" indent="0">
              <a:buNone/>
              <a:defRPr sz="507"/>
            </a:lvl3pPr>
            <a:lvl4pPr marL="695505" indent="0">
              <a:buNone/>
              <a:defRPr sz="457"/>
            </a:lvl4pPr>
            <a:lvl5pPr marL="927340" indent="0">
              <a:buNone/>
              <a:defRPr sz="457"/>
            </a:lvl5pPr>
            <a:lvl6pPr marL="1159175" indent="0">
              <a:buNone/>
              <a:defRPr sz="457"/>
            </a:lvl6pPr>
            <a:lvl7pPr marL="1391009" indent="0">
              <a:buNone/>
              <a:defRPr sz="457"/>
            </a:lvl7pPr>
            <a:lvl8pPr marL="1622844" indent="0">
              <a:buNone/>
              <a:defRPr sz="457"/>
            </a:lvl8pPr>
            <a:lvl9pPr marL="1854679" indent="0">
              <a:buNone/>
              <a:defRPr sz="4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528D43-15C4-4ABA-9BBB-EFDF30568C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5AE1D0-A6FC-4E82-AE17-47276BE10A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636522" y="2926419"/>
            <a:ext cx="4663017" cy="2633438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6064" y="2926419"/>
            <a:ext cx="13922727" cy="263343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46802-C1B0-4B6E-8C76-169C401027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7000">
              <a:srgbClr val="EEE8C5"/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6062" y="2926417"/>
            <a:ext cx="18653478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9525" tIns="209759" rIns="419525" bIns="20975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6062" y="9508752"/>
            <a:ext cx="18653478" cy="1975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9525" tIns="209759" rIns="419525" bIns="2097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6061" y="29991987"/>
            <a:ext cx="4572000" cy="2195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9525" tIns="209759" rIns="419525" bIns="209759" numCol="1" anchor="t" anchorCtr="0" compatLnSpc="1">
            <a:prstTxWarp prst="textNoShape">
              <a:avLst/>
            </a:prstTxWarp>
          </a:bodyPr>
          <a:lstStyle>
            <a:lvl1pPr>
              <a:defRPr sz="3143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497940" y="29991987"/>
            <a:ext cx="6949722" cy="2195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9525" tIns="209759" rIns="419525" bIns="209759" numCol="1" anchor="t" anchorCtr="0" compatLnSpc="1">
            <a:prstTxWarp prst="textNoShape">
              <a:avLst/>
            </a:prstTxWarp>
          </a:bodyPr>
          <a:lstStyle>
            <a:lvl1pPr algn="ctr">
              <a:defRPr sz="3143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727539" y="29991987"/>
            <a:ext cx="4572000" cy="2195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9525" tIns="209759" rIns="419525" bIns="209759" numCol="1" anchor="t" anchorCtr="0" compatLnSpc="1">
            <a:prstTxWarp prst="textNoShape">
              <a:avLst/>
            </a:prstTxWarp>
          </a:bodyPr>
          <a:lstStyle>
            <a:lvl1pPr algn="r">
              <a:defRPr sz="3143"/>
            </a:lvl1pPr>
          </a:lstStyle>
          <a:p>
            <a:pPr>
              <a:defRPr/>
            </a:pPr>
            <a:fld id="{967884A1-535D-449B-A302-E0ACED78B7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129982" rtl="0" eaLnBrk="0" fontAlgn="base" hangingPunct="0">
        <a:spcBef>
          <a:spcPct val="0"/>
        </a:spcBef>
        <a:spcAft>
          <a:spcPct val="0"/>
        </a:spcAft>
        <a:defRPr sz="10243">
          <a:solidFill>
            <a:schemeClr val="tx2"/>
          </a:solidFill>
          <a:latin typeface="+mj-lt"/>
          <a:ea typeface="+mj-ea"/>
          <a:cs typeface="+mj-cs"/>
        </a:defRPr>
      </a:lvl1pPr>
      <a:lvl2pPr algn="ctr" defTabSz="2129982" rtl="0" eaLnBrk="0" fontAlgn="base" hangingPunct="0">
        <a:spcBef>
          <a:spcPct val="0"/>
        </a:spcBef>
        <a:spcAft>
          <a:spcPct val="0"/>
        </a:spcAft>
        <a:defRPr sz="10243">
          <a:solidFill>
            <a:schemeClr val="tx2"/>
          </a:solidFill>
          <a:latin typeface="Times New Roman" pitchFamily="18" charset="0"/>
        </a:defRPr>
      </a:lvl2pPr>
      <a:lvl3pPr algn="ctr" defTabSz="2129982" rtl="0" eaLnBrk="0" fontAlgn="base" hangingPunct="0">
        <a:spcBef>
          <a:spcPct val="0"/>
        </a:spcBef>
        <a:spcAft>
          <a:spcPct val="0"/>
        </a:spcAft>
        <a:defRPr sz="10243">
          <a:solidFill>
            <a:schemeClr val="tx2"/>
          </a:solidFill>
          <a:latin typeface="Times New Roman" pitchFamily="18" charset="0"/>
        </a:defRPr>
      </a:lvl3pPr>
      <a:lvl4pPr algn="ctr" defTabSz="2129982" rtl="0" eaLnBrk="0" fontAlgn="base" hangingPunct="0">
        <a:spcBef>
          <a:spcPct val="0"/>
        </a:spcBef>
        <a:spcAft>
          <a:spcPct val="0"/>
        </a:spcAft>
        <a:defRPr sz="10243">
          <a:solidFill>
            <a:schemeClr val="tx2"/>
          </a:solidFill>
          <a:latin typeface="Times New Roman" pitchFamily="18" charset="0"/>
        </a:defRPr>
      </a:lvl4pPr>
      <a:lvl5pPr algn="ctr" defTabSz="2129982" rtl="0" eaLnBrk="0" fontAlgn="base" hangingPunct="0">
        <a:spcBef>
          <a:spcPct val="0"/>
        </a:spcBef>
        <a:spcAft>
          <a:spcPct val="0"/>
        </a:spcAft>
        <a:defRPr sz="10243">
          <a:solidFill>
            <a:schemeClr val="tx2"/>
          </a:solidFill>
          <a:latin typeface="Times New Roman" pitchFamily="18" charset="0"/>
        </a:defRPr>
      </a:lvl5pPr>
      <a:lvl6pPr marL="231835" algn="ctr" defTabSz="2129982" rtl="0" fontAlgn="base">
        <a:spcBef>
          <a:spcPct val="0"/>
        </a:spcBef>
        <a:spcAft>
          <a:spcPct val="0"/>
        </a:spcAft>
        <a:defRPr sz="10243">
          <a:solidFill>
            <a:schemeClr val="tx2"/>
          </a:solidFill>
          <a:latin typeface="Times New Roman" pitchFamily="18" charset="0"/>
        </a:defRPr>
      </a:lvl6pPr>
      <a:lvl7pPr marL="463670" algn="ctr" defTabSz="2129982" rtl="0" fontAlgn="base">
        <a:spcBef>
          <a:spcPct val="0"/>
        </a:spcBef>
        <a:spcAft>
          <a:spcPct val="0"/>
        </a:spcAft>
        <a:defRPr sz="10243">
          <a:solidFill>
            <a:schemeClr val="tx2"/>
          </a:solidFill>
          <a:latin typeface="Times New Roman" pitchFamily="18" charset="0"/>
        </a:defRPr>
      </a:lvl7pPr>
      <a:lvl8pPr marL="695505" algn="ctr" defTabSz="2129982" rtl="0" fontAlgn="base">
        <a:spcBef>
          <a:spcPct val="0"/>
        </a:spcBef>
        <a:spcAft>
          <a:spcPct val="0"/>
        </a:spcAft>
        <a:defRPr sz="10243">
          <a:solidFill>
            <a:schemeClr val="tx2"/>
          </a:solidFill>
          <a:latin typeface="Times New Roman" pitchFamily="18" charset="0"/>
        </a:defRPr>
      </a:lvl8pPr>
      <a:lvl9pPr marL="927340" algn="ctr" defTabSz="2129982" rtl="0" fontAlgn="base">
        <a:spcBef>
          <a:spcPct val="0"/>
        </a:spcBef>
        <a:spcAft>
          <a:spcPct val="0"/>
        </a:spcAft>
        <a:defRPr sz="10243">
          <a:solidFill>
            <a:schemeClr val="tx2"/>
          </a:solidFill>
          <a:latin typeface="Times New Roman" pitchFamily="18" charset="0"/>
        </a:defRPr>
      </a:lvl9pPr>
    </p:titleStyle>
    <p:bodyStyle>
      <a:lvl1pPr marL="797737" indent="-797737" algn="l" defTabSz="2129982" rtl="0" eaLnBrk="0" fontAlgn="base" hangingPunct="0">
        <a:spcBef>
          <a:spcPct val="20000"/>
        </a:spcBef>
        <a:spcAft>
          <a:spcPct val="0"/>
        </a:spcAft>
        <a:buChar char="•"/>
        <a:defRPr sz="7556">
          <a:solidFill>
            <a:schemeClr val="tx1"/>
          </a:solidFill>
          <a:latin typeface="+mn-lt"/>
          <a:ea typeface="+mn-ea"/>
          <a:cs typeface="+mn-cs"/>
        </a:defRPr>
      </a:lvl1pPr>
      <a:lvl2pPr marL="1730712" indent="-665721" algn="l" defTabSz="2129982" rtl="0" eaLnBrk="0" fontAlgn="base" hangingPunct="0">
        <a:spcBef>
          <a:spcPct val="20000"/>
        </a:spcBef>
        <a:spcAft>
          <a:spcPct val="0"/>
        </a:spcAft>
        <a:buChar char="–"/>
        <a:defRPr sz="6592">
          <a:solidFill>
            <a:schemeClr val="tx1"/>
          </a:solidFill>
          <a:latin typeface="+mn-lt"/>
        </a:defRPr>
      </a:lvl2pPr>
      <a:lvl3pPr marL="2660466" indent="-530484" algn="l" defTabSz="2129982" rtl="0" eaLnBrk="0" fontAlgn="base" hangingPunct="0">
        <a:spcBef>
          <a:spcPct val="20000"/>
        </a:spcBef>
        <a:spcAft>
          <a:spcPct val="0"/>
        </a:spcAft>
        <a:buChar char="•"/>
        <a:defRPr sz="5629">
          <a:solidFill>
            <a:schemeClr val="tx1"/>
          </a:solidFill>
          <a:latin typeface="+mn-lt"/>
        </a:defRPr>
      </a:lvl3pPr>
      <a:lvl4pPr marL="3724653" indent="-534508" algn="l" defTabSz="2129982" rtl="0" eaLnBrk="0" fontAlgn="base" hangingPunct="0">
        <a:spcBef>
          <a:spcPct val="20000"/>
        </a:spcBef>
        <a:spcAft>
          <a:spcPct val="0"/>
        </a:spcAft>
        <a:buChar char="–"/>
        <a:defRPr sz="4665">
          <a:solidFill>
            <a:schemeClr val="tx1"/>
          </a:solidFill>
          <a:latin typeface="+mn-lt"/>
        </a:defRPr>
      </a:lvl4pPr>
      <a:lvl5pPr marL="4788839" indent="-533703" algn="l" defTabSz="2129982" rtl="0" eaLnBrk="0" fontAlgn="base" hangingPunct="0">
        <a:spcBef>
          <a:spcPct val="20000"/>
        </a:spcBef>
        <a:spcAft>
          <a:spcPct val="0"/>
        </a:spcAft>
        <a:buChar char="»"/>
        <a:defRPr sz="4665">
          <a:solidFill>
            <a:schemeClr val="tx1"/>
          </a:solidFill>
          <a:latin typeface="+mn-lt"/>
        </a:defRPr>
      </a:lvl5pPr>
      <a:lvl6pPr marL="5020674" indent="-533703" algn="l" defTabSz="2129982" rtl="0" fontAlgn="base">
        <a:spcBef>
          <a:spcPct val="20000"/>
        </a:spcBef>
        <a:spcAft>
          <a:spcPct val="0"/>
        </a:spcAft>
        <a:buChar char="»"/>
        <a:defRPr sz="4665">
          <a:solidFill>
            <a:schemeClr val="tx1"/>
          </a:solidFill>
          <a:latin typeface="+mn-lt"/>
        </a:defRPr>
      </a:lvl6pPr>
      <a:lvl7pPr marL="5252509" indent="-533703" algn="l" defTabSz="2129982" rtl="0" fontAlgn="base">
        <a:spcBef>
          <a:spcPct val="20000"/>
        </a:spcBef>
        <a:spcAft>
          <a:spcPct val="0"/>
        </a:spcAft>
        <a:buChar char="»"/>
        <a:defRPr sz="4665">
          <a:solidFill>
            <a:schemeClr val="tx1"/>
          </a:solidFill>
          <a:latin typeface="+mn-lt"/>
        </a:defRPr>
      </a:lvl7pPr>
      <a:lvl8pPr marL="5484344" indent="-533703" algn="l" defTabSz="2129982" rtl="0" fontAlgn="base">
        <a:spcBef>
          <a:spcPct val="20000"/>
        </a:spcBef>
        <a:spcAft>
          <a:spcPct val="0"/>
        </a:spcAft>
        <a:buChar char="»"/>
        <a:defRPr sz="4665">
          <a:solidFill>
            <a:schemeClr val="tx1"/>
          </a:solidFill>
          <a:latin typeface="+mn-lt"/>
        </a:defRPr>
      </a:lvl8pPr>
      <a:lvl9pPr marL="5716178" indent="-533703" algn="l" defTabSz="2129982" rtl="0" fontAlgn="base">
        <a:spcBef>
          <a:spcPct val="20000"/>
        </a:spcBef>
        <a:spcAft>
          <a:spcPct val="0"/>
        </a:spcAft>
        <a:buChar char="»"/>
        <a:defRPr sz="466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63670" rtl="0" eaLnBrk="1" latinLnBrk="0" hangingPunct="1">
        <a:defRPr sz="913" kern="1200">
          <a:solidFill>
            <a:schemeClr val="tx1"/>
          </a:solidFill>
          <a:latin typeface="+mn-lt"/>
          <a:ea typeface="+mn-ea"/>
          <a:cs typeface="+mn-cs"/>
        </a:defRPr>
      </a:lvl1pPr>
      <a:lvl2pPr marL="231835" algn="l" defTabSz="463670" rtl="0" eaLnBrk="1" latinLnBrk="0" hangingPunct="1">
        <a:defRPr sz="913" kern="1200">
          <a:solidFill>
            <a:schemeClr val="tx1"/>
          </a:solidFill>
          <a:latin typeface="+mn-lt"/>
          <a:ea typeface="+mn-ea"/>
          <a:cs typeface="+mn-cs"/>
        </a:defRPr>
      </a:lvl2pPr>
      <a:lvl3pPr marL="463670" algn="l" defTabSz="463670" rtl="0" eaLnBrk="1" latinLnBrk="0" hangingPunct="1">
        <a:defRPr sz="913" kern="1200">
          <a:solidFill>
            <a:schemeClr val="tx1"/>
          </a:solidFill>
          <a:latin typeface="+mn-lt"/>
          <a:ea typeface="+mn-ea"/>
          <a:cs typeface="+mn-cs"/>
        </a:defRPr>
      </a:lvl3pPr>
      <a:lvl4pPr marL="695505" algn="l" defTabSz="463670" rtl="0" eaLnBrk="1" latinLnBrk="0" hangingPunct="1">
        <a:defRPr sz="913" kern="1200">
          <a:solidFill>
            <a:schemeClr val="tx1"/>
          </a:solidFill>
          <a:latin typeface="+mn-lt"/>
          <a:ea typeface="+mn-ea"/>
          <a:cs typeface="+mn-cs"/>
        </a:defRPr>
      </a:lvl4pPr>
      <a:lvl5pPr marL="927340" algn="l" defTabSz="463670" rtl="0" eaLnBrk="1" latinLnBrk="0" hangingPunct="1">
        <a:defRPr sz="913" kern="1200">
          <a:solidFill>
            <a:schemeClr val="tx1"/>
          </a:solidFill>
          <a:latin typeface="+mn-lt"/>
          <a:ea typeface="+mn-ea"/>
          <a:cs typeface="+mn-cs"/>
        </a:defRPr>
      </a:lvl5pPr>
      <a:lvl6pPr marL="1159175" algn="l" defTabSz="463670" rtl="0" eaLnBrk="1" latinLnBrk="0" hangingPunct="1">
        <a:defRPr sz="913" kern="1200">
          <a:solidFill>
            <a:schemeClr val="tx1"/>
          </a:solidFill>
          <a:latin typeface="+mn-lt"/>
          <a:ea typeface="+mn-ea"/>
          <a:cs typeface="+mn-cs"/>
        </a:defRPr>
      </a:lvl6pPr>
      <a:lvl7pPr marL="1391009" algn="l" defTabSz="463670" rtl="0" eaLnBrk="1" latinLnBrk="0" hangingPunct="1">
        <a:defRPr sz="913" kern="1200">
          <a:solidFill>
            <a:schemeClr val="tx1"/>
          </a:solidFill>
          <a:latin typeface="+mn-lt"/>
          <a:ea typeface="+mn-ea"/>
          <a:cs typeface="+mn-cs"/>
        </a:defRPr>
      </a:lvl7pPr>
      <a:lvl8pPr marL="1622844" algn="l" defTabSz="463670" rtl="0" eaLnBrk="1" latinLnBrk="0" hangingPunct="1">
        <a:defRPr sz="913" kern="1200">
          <a:solidFill>
            <a:schemeClr val="tx1"/>
          </a:solidFill>
          <a:latin typeface="+mn-lt"/>
          <a:ea typeface="+mn-ea"/>
          <a:cs typeface="+mn-cs"/>
        </a:defRPr>
      </a:lvl8pPr>
      <a:lvl9pPr marL="1854679" algn="l" defTabSz="463670" rtl="0" eaLnBrk="1" latinLnBrk="0" hangingPunct="1">
        <a:defRPr sz="9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7000">
              <a:srgbClr val="EEE8C5"/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11"/>
          <p:cNvSpPr>
            <a:spLocks noChangeArrowheads="1"/>
          </p:cNvSpPr>
          <p:nvPr/>
        </p:nvSpPr>
        <p:spPr bwMode="auto">
          <a:xfrm>
            <a:off x="0" y="18851"/>
            <a:ext cx="21945600" cy="3023347"/>
          </a:xfrm>
          <a:prstGeom prst="rect">
            <a:avLst/>
          </a:prstGeom>
          <a:solidFill>
            <a:srgbClr val="FF6600"/>
          </a:solidFill>
          <a:ln w="79375">
            <a:solidFill>
              <a:srgbClr val="8ADE4C"/>
            </a:solidFill>
            <a:miter lim="800000"/>
            <a:headEnd/>
            <a:tailEnd/>
          </a:ln>
          <a:effectLst/>
        </p:spPr>
        <p:txBody>
          <a:bodyPr lIns="43700" tIns="174859" rIns="43700" bIns="218573" anchor="ctr" anchorCtr="1"/>
          <a:lstStyle/>
          <a:p>
            <a:pPr marL="218292" indent="-218292" algn="ctr" defTabSz="438966" eaLnBrk="0" hangingPunct="0">
              <a:defRPr/>
            </a:pPr>
            <a:endParaRPr lang="en-US" sz="3450" b="1" dirty="0"/>
          </a:p>
          <a:p>
            <a:pPr marL="218292" indent="-218292" algn="ctr" defTabSz="438966" eaLnBrk="0" hangingPunct="0">
              <a:defRPr/>
            </a:pPr>
            <a:r>
              <a:rPr lang="en-US" sz="2300" b="1" dirty="0">
                <a:solidFill>
                  <a:schemeClr val="bg1"/>
                </a:solidFill>
                <a:latin typeface="Calisto MT" pitchFamily="18" charset="0"/>
                <a:cs typeface="Times New Roman" pitchFamily="18" charset="0"/>
              </a:rPr>
              <a:t> </a:t>
            </a:r>
            <a:endParaRPr lang="en-US" sz="3450" b="1" dirty="0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FFDB56"/>
                  </a:outerShdw>
                </a:cont>
                <a:cont type="tree" name="">
                  <a:effect ref="fillLine"/>
                  <a:outerShdw dist="38100" dir="2700000" algn="tl">
                    <a:srgbClr val="856800"/>
                  </a:outerShdw>
                </a:cont>
                <a:effect ref="fillLine"/>
              </a:effectDag>
              <a:latin typeface="Calisto MT" pitchFamily="18" charset="0"/>
              <a:cs typeface="Times New Roman" pitchFamily="18" charset="0"/>
            </a:endParaRPr>
          </a:p>
          <a:p>
            <a:pPr marL="218292" indent="-218292" algn="ctr" defTabSz="438966" eaLnBrk="0" hangingPunct="0">
              <a:defRPr/>
            </a:pPr>
            <a:endParaRPr lang="en-US" sz="3450" b="1" dirty="0">
              <a:solidFill>
                <a:srgbClr val="DFAF01"/>
              </a:solidFill>
              <a:effectDag name="">
                <a:cont type="tree" name="">
                  <a:effect ref="fillLine"/>
                  <a:outerShdw dist="38100" dir="13500000" algn="br">
                    <a:srgbClr val="FFDB56"/>
                  </a:outerShdw>
                </a:cont>
                <a:cont type="tree" name="">
                  <a:effect ref="fillLine"/>
                  <a:outerShdw dist="38100" dir="2700000" algn="tl">
                    <a:srgbClr val="856800"/>
                  </a:outerShdw>
                </a:cont>
                <a:effect ref="fillLine"/>
              </a:effectDag>
              <a:cs typeface="Times New Roman" pitchFamily="18" charset="0"/>
            </a:endParaRPr>
          </a:p>
        </p:txBody>
      </p:sp>
      <p:sp>
        <p:nvSpPr>
          <p:cNvPr id="51" name="Text Box 10"/>
          <p:cNvSpPr txBox="1">
            <a:spLocks noChangeArrowheads="1"/>
          </p:cNvSpPr>
          <p:nvPr/>
        </p:nvSpPr>
        <p:spPr bwMode="auto">
          <a:xfrm>
            <a:off x="470127" y="10716067"/>
            <a:ext cx="10084318" cy="13300324"/>
          </a:xfrm>
          <a:prstGeom prst="rect">
            <a:avLst/>
          </a:prstGeom>
          <a:solidFill>
            <a:schemeClr val="bg1"/>
          </a:solidFill>
          <a:ln w="38100">
            <a:solidFill>
              <a:srgbClr val="8ADE4C"/>
            </a:solidFill>
            <a:miter lim="800000"/>
            <a:headEnd/>
            <a:tailEnd/>
          </a:ln>
        </p:spPr>
        <p:txBody>
          <a:bodyPr lIns="349601" tIns="349601" rIns="349601" bIns="349601"/>
          <a:lstStyle/>
          <a:p>
            <a:pPr algn="just"/>
            <a:endParaRPr lang="en-US" sz="1000" dirty="0"/>
          </a:p>
          <a:p>
            <a:pPr marL="228611" marR="0" lvl="0" indent="-228611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Data Source</a:t>
            </a:r>
            <a:r>
              <a:rPr kumimoji="0" lang="en-US" sz="25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: TUH EEG Artifact (TUAR) corpus with subject-wise splits (149 train, 32 </a:t>
            </a:r>
            <a:r>
              <a:rPr kumimoji="0" lang="en-US" sz="25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val</a:t>
            </a:r>
            <a:r>
              <a:rPr kumimoji="0" lang="en-US" sz="25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, 32 test) to prevent leakage.</a:t>
            </a:r>
          </a:p>
          <a:p>
            <a:pPr marL="555143" lvl="1" indent="-228611" algn="just">
              <a:buFont typeface="Arial"/>
              <a:buChar char="•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Artifact Classes: Five distinct classes: Muscle, Eye, Electrode, Chewing, and Shiver.</a:t>
            </a:r>
          </a:p>
          <a:p>
            <a:pPr marL="555143" lvl="1" indent="-228611" algn="just">
              <a:buFont typeface="Arial"/>
              <a:buChar char="•"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 Premr Pro Med"/>
              <a:ea typeface="+mn-ea"/>
              <a:cs typeface="Garamond Premr Pro Med"/>
            </a:endParaRPr>
          </a:p>
          <a:p>
            <a:pPr marL="228611" marR="0" lvl="0" indent="-228611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Preprocessing</a:t>
            </a:r>
            <a:r>
              <a:rPr kumimoji="0" lang="en-US" sz="25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:</a:t>
            </a:r>
          </a:p>
          <a:p>
            <a:pPr marL="555143" lvl="1" indent="-228611" algn="just">
              <a:buFont typeface="Arial"/>
              <a:buChar char="•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Montage: Fixed 8-channel montage (Fp1, Fp2, C3, C4, O1, O2, T3, T4) at 250 Hz.</a:t>
            </a:r>
          </a:p>
          <a:p>
            <a:pPr marL="555143" lvl="1" indent="-228611" algn="just">
              <a:buFont typeface="Arial"/>
              <a:buChar char="•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WGAN-GP: 1.0s windows with per-window min-max normalization to $[-1, 1]$.</a:t>
            </a:r>
          </a:p>
          <a:p>
            <a:pPr marL="555143" lvl="1" indent="-228611" algn="just">
              <a:buFont typeface="Arial"/>
              <a:buChar char="•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Diffusion: 2.0s windows with per-recording, per-channel z-score normalization.</a:t>
            </a:r>
          </a:p>
          <a:p>
            <a:pPr lvl="1" algn="just"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 Premr Pro Med"/>
              <a:ea typeface="+mn-ea"/>
              <a:cs typeface="Garamond Premr Pro Med"/>
            </a:endParaRPr>
          </a:p>
          <a:p>
            <a:pPr marL="228611" marR="0" lvl="0" indent="-228611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GANs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: Specifically WGAN-GP with projection discriminators, known for stability and sample efficiency.</a:t>
            </a:r>
          </a:p>
          <a:p>
            <a:pPr marL="555143" lvl="1" indent="-228611" algn="just">
              <a:buFont typeface="Arial"/>
              <a:buChar char="•"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Conditional WGAN with gradient penalty and a projection discriminator for label injection</a:t>
            </a:r>
          </a:p>
          <a:p>
            <a:pPr marL="555143" lvl="1" indent="-228611" algn="just">
              <a:buFont typeface="Arial"/>
              <a:buChar char="•"/>
              <a:defRPr/>
            </a:pP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 Premr Pro Med"/>
              <a:ea typeface="+mn-ea"/>
              <a:cs typeface="Garamond Premr Pro Med"/>
            </a:endParaRPr>
          </a:p>
          <a:p>
            <a:pPr marL="228611" marR="0" lvl="0" indent="-228611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Diffusion Models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: DDPMs with classifier-free guidance, known for state-of-the-art generative quality but higher sampling latency.</a:t>
            </a:r>
          </a:p>
          <a:p>
            <a:pPr marL="555143" lvl="1" indent="-228611" algn="just">
              <a:buFont typeface="Arial"/>
              <a:buChar char="•"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1D U-Net with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FiLM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 Premr Pro Med"/>
                <a:ea typeface="+mn-ea"/>
                <a:cs typeface="Garamond Premr Pro Med"/>
              </a:rPr>
              <a:t> conditioning and classifier-free guidance</a:t>
            </a:r>
          </a:p>
          <a:p>
            <a:pPr marL="228611" marR="0" lvl="0" indent="-228611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 Premr Pro Med"/>
              <a:ea typeface="+mn-ea"/>
              <a:cs typeface="Garamond Premr Pro Med"/>
            </a:endParaRPr>
          </a:p>
          <a:p>
            <a:pPr marL="171459" indent="-171459" algn="just">
              <a:buFont typeface="Arial"/>
              <a:buChar char="•"/>
            </a:pPr>
            <a:endParaRPr lang="en-US" sz="1400" dirty="0">
              <a:solidFill>
                <a:srgbClr val="000000"/>
              </a:solidFill>
              <a:latin typeface="Garamond Premr Pro Med"/>
              <a:cs typeface="Garamond Premr Pro Med"/>
            </a:endParaRPr>
          </a:p>
          <a:p>
            <a:pPr algn="just"/>
            <a:endParaRPr lang="en-US" sz="1200" dirty="0"/>
          </a:p>
          <a:p>
            <a:pPr algn="just"/>
            <a:endParaRPr lang="en-US" sz="1000" dirty="0"/>
          </a:p>
          <a:p>
            <a:pPr algn="just"/>
            <a:endParaRPr lang="en-US" sz="1000" dirty="0"/>
          </a:p>
          <a:p>
            <a:pPr algn="just"/>
            <a:endParaRPr lang="en-US" sz="1000" dirty="0"/>
          </a:p>
        </p:txBody>
      </p:sp>
      <p:sp>
        <p:nvSpPr>
          <p:cNvPr id="54" name="Text Box 13"/>
          <p:cNvSpPr txBox="1">
            <a:spLocks noChangeArrowheads="1"/>
          </p:cNvSpPr>
          <p:nvPr/>
        </p:nvSpPr>
        <p:spPr bwMode="auto">
          <a:xfrm>
            <a:off x="2798906" y="10471715"/>
            <a:ext cx="5461800" cy="538187"/>
          </a:xfrm>
          <a:prstGeom prst="rect">
            <a:avLst/>
          </a:prstGeom>
          <a:solidFill>
            <a:srgbClr val="595959"/>
          </a:solidFill>
          <a:ln w="38100">
            <a:solidFill>
              <a:srgbClr val="8ADE4C"/>
            </a:solidFill>
            <a:miter lim="800000"/>
            <a:headEnd/>
            <a:tailEnd/>
          </a:ln>
          <a:effectLst>
            <a:outerShdw blurRad="127000" dist="101600" dir="2700000" algn="tl" rotWithShape="0">
              <a:schemeClr val="accent2">
                <a:alpha val="46000"/>
              </a:schemeClr>
            </a:outerShdw>
          </a:effectLst>
        </p:spPr>
        <p:txBody>
          <a:bodyPr wrap="square" lIns="45303" tIns="22651" rIns="45303" bIns="22651">
            <a:spAutoFit/>
          </a:bodyPr>
          <a:lstStyle/>
          <a:p>
            <a:pPr algn="ctr" defTabSz="450079" eaLnBrk="0" hangingPunct="0">
              <a:defRPr/>
            </a:pPr>
            <a:r>
              <a:rPr lang="en-US" sz="3200" dirty="0">
                <a:solidFill>
                  <a:schemeClr val="bg1"/>
                </a:solidFill>
                <a:latin typeface="Myriad Pro Semibold"/>
                <a:cs typeface="Myriad Pro Semibold"/>
              </a:rPr>
              <a:t>Subjects, Methods &amp; Analysis</a:t>
            </a:r>
          </a:p>
        </p:txBody>
      </p:sp>
      <p:sp>
        <p:nvSpPr>
          <p:cNvPr id="55" name="Text Box 16"/>
          <p:cNvSpPr txBox="1">
            <a:spLocks noChangeArrowheads="1"/>
          </p:cNvSpPr>
          <p:nvPr/>
        </p:nvSpPr>
        <p:spPr bwMode="auto">
          <a:xfrm>
            <a:off x="435084" y="3771906"/>
            <a:ext cx="10119360" cy="2694590"/>
          </a:xfrm>
          <a:prstGeom prst="rect">
            <a:avLst/>
          </a:prstGeom>
          <a:solidFill>
            <a:schemeClr val="bg1"/>
          </a:solidFill>
          <a:ln w="38100">
            <a:solidFill>
              <a:srgbClr val="8ADE4C"/>
            </a:solidFill>
            <a:miter lim="800000"/>
            <a:headEnd/>
            <a:tailEnd/>
          </a:ln>
        </p:spPr>
        <p:txBody>
          <a:bodyPr lIns="349601" tIns="349601" rIns="349601" bIns="349601"/>
          <a:lstStyle/>
          <a:p>
            <a:pPr marL="228611" indent="-228611" defTabSz="438966"/>
            <a:endParaRPr lang="en-US" sz="1200" dirty="0"/>
          </a:p>
          <a:p>
            <a:pPr algn="just" defTabSz="438966"/>
            <a:r>
              <a:rPr lang="en-US" sz="2300" dirty="0">
                <a:solidFill>
                  <a:srgbClr val="000000"/>
                </a:solidFill>
                <a:latin typeface="Garamond Premr Pro Med"/>
              </a:rPr>
              <a:t>To address the difficulty of obtaining labeled EEG artifact data, we developed ArtifactGen to benchmark WGAN-GP against Diffusion models for synthesizing realistic artifact segments. Our evaluation found that the WGAN-GP model currently produces signals with better spectral realism than the Diffusion baseline, though both models face challenges with precise class conditioning</a:t>
            </a:r>
          </a:p>
        </p:txBody>
      </p:sp>
      <p:sp>
        <p:nvSpPr>
          <p:cNvPr id="56" name="Text Box 17"/>
          <p:cNvSpPr txBox="1">
            <a:spLocks noChangeArrowheads="1"/>
          </p:cNvSpPr>
          <p:nvPr/>
        </p:nvSpPr>
        <p:spPr bwMode="auto">
          <a:xfrm>
            <a:off x="3348129" y="3502813"/>
            <a:ext cx="4393237" cy="538187"/>
          </a:xfrm>
          <a:prstGeom prst="rect">
            <a:avLst/>
          </a:prstGeom>
          <a:solidFill>
            <a:srgbClr val="595959"/>
          </a:solidFill>
          <a:ln w="38100">
            <a:solidFill>
              <a:srgbClr val="8ADE4C"/>
            </a:solidFill>
            <a:miter lim="800000"/>
            <a:headEnd/>
            <a:tailEnd/>
          </a:ln>
          <a:effectLst>
            <a:outerShdw blurRad="127000" dist="101600" dir="2700000" algn="tl" rotWithShape="0">
              <a:schemeClr val="accent2">
                <a:alpha val="46000"/>
              </a:schemeClr>
            </a:outerShdw>
          </a:effectLst>
        </p:spPr>
        <p:txBody>
          <a:bodyPr wrap="square" lIns="45303" tIns="22651" rIns="45303" bIns="22651">
            <a:spAutoFit/>
          </a:bodyPr>
          <a:lstStyle/>
          <a:p>
            <a:pPr algn="ctr" defTabSz="450079" eaLnBrk="0" hangingPunct="0">
              <a:defRPr/>
            </a:pPr>
            <a:r>
              <a:rPr lang="en-US" sz="3200" dirty="0">
                <a:solidFill>
                  <a:schemeClr val="bg1"/>
                </a:solidFill>
                <a:latin typeface="Myriad Pro Semibold"/>
                <a:cs typeface="Myriad Pro Semibold"/>
              </a:rPr>
              <a:t>Abstract</a:t>
            </a:r>
            <a:endParaRPr lang="en-US" sz="2400" dirty="0">
              <a:solidFill>
                <a:schemeClr val="bg1"/>
              </a:solidFill>
              <a:latin typeface="Myriad Pro Semibold"/>
              <a:cs typeface="Myriad Pro Semibold"/>
            </a:endParaRPr>
          </a:p>
        </p:txBody>
      </p:sp>
      <p:sp>
        <p:nvSpPr>
          <p:cNvPr id="57" name="Text Box 18"/>
          <p:cNvSpPr txBox="1">
            <a:spLocks noChangeArrowheads="1"/>
          </p:cNvSpPr>
          <p:nvPr/>
        </p:nvSpPr>
        <p:spPr bwMode="auto">
          <a:xfrm>
            <a:off x="11243469" y="3771904"/>
            <a:ext cx="10119360" cy="6119353"/>
          </a:xfrm>
          <a:prstGeom prst="rect">
            <a:avLst/>
          </a:prstGeom>
          <a:solidFill>
            <a:schemeClr val="bg1"/>
          </a:solidFill>
          <a:ln w="38100">
            <a:solidFill>
              <a:srgbClr val="8ADE4C"/>
            </a:solidFill>
            <a:miter lim="800000"/>
            <a:headEnd/>
            <a:tailEnd/>
          </a:ln>
        </p:spPr>
        <p:txBody>
          <a:bodyPr lIns="349601" tIns="349601" rIns="349601" bIns="349601"/>
          <a:lstStyle/>
          <a:p>
            <a:pPr algn="just">
              <a:buFontTx/>
              <a:buChar char="•"/>
            </a:pPr>
            <a:endParaRPr lang="en-US" sz="1200" dirty="0"/>
          </a:p>
          <a:p>
            <a:pPr marL="228611" indent="-228611" algn="just"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latin typeface="Garamond Premr Pro Med"/>
                <a:cs typeface="Garamond Premr Pro Med"/>
              </a:rPr>
              <a:t>Evaluation Challenge</a:t>
            </a:r>
            <a:r>
              <a:rPr lang="en-US" sz="2500" dirty="0">
                <a:solidFill>
                  <a:srgbClr val="000000"/>
                </a:solidFill>
                <a:latin typeface="Garamond Premr Pro Med"/>
                <a:cs typeface="Garamond Premr Pro Med"/>
              </a:rPr>
              <a:t>: Evaluating synthetic EEG requires metrics aligned with neurophysiological structure (spectra, covariance) rather than standard image heuristics.</a:t>
            </a:r>
          </a:p>
          <a:p>
            <a:pPr marL="228611" indent="-228611" algn="just"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latin typeface="Garamond Premr Pro Med"/>
                <a:cs typeface="Garamond Premr Pro Med"/>
              </a:rPr>
              <a:t>Contribution</a:t>
            </a:r>
            <a:r>
              <a:rPr lang="en-US" sz="2500" dirty="0">
                <a:solidFill>
                  <a:srgbClr val="000000"/>
                </a:solidFill>
                <a:latin typeface="Garamond Premr Pro Med"/>
                <a:cs typeface="Garamond Premr Pro Med"/>
              </a:rPr>
              <a:t>: A reproducible framework, ArtifactGen, establishing a baseline for EEG artifact synthesis and surfacing actionable failure modes.</a:t>
            </a:r>
          </a:p>
          <a:p>
            <a:pPr marL="228611" indent="-228611" algn="just">
              <a:buFont typeface="Arial"/>
              <a:buChar char="•"/>
            </a:pPr>
            <a:endParaRPr lang="en-US" sz="2500" dirty="0">
              <a:solidFill>
                <a:srgbClr val="000000"/>
              </a:solidFill>
              <a:latin typeface="Garamond Premr Pro Med"/>
              <a:cs typeface="Garamond Premr Pro Med"/>
            </a:endParaRPr>
          </a:p>
          <a:p>
            <a:pPr algn="just"/>
            <a:endParaRPr lang="en-US" sz="1400" dirty="0">
              <a:solidFill>
                <a:srgbClr val="000000"/>
              </a:solidFill>
              <a:latin typeface="Garamond Premr Pro Med"/>
              <a:cs typeface="Garamond Premr Pro Med"/>
            </a:endParaRPr>
          </a:p>
          <a:p>
            <a:r>
              <a:rPr lang="en-US" sz="1300" dirty="0"/>
              <a:t> </a:t>
            </a:r>
          </a:p>
        </p:txBody>
      </p:sp>
      <p:sp>
        <p:nvSpPr>
          <p:cNvPr id="58" name="Text Box 19"/>
          <p:cNvSpPr txBox="1">
            <a:spLocks noChangeArrowheads="1"/>
          </p:cNvSpPr>
          <p:nvPr/>
        </p:nvSpPr>
        <p:spPr bwMode="auto">
          <a:xfrm>
            <a:off x="14142022" y="3502813"/>
            <a:ext cx="4413698" cy="538187"/>
          </a:xfrm>
          <a:prstGeom prst="rect">
            <a:avLst/>
          </a:prstGeom>
          <a:solidFill>
            <a:srgbClr val="595959"/>
          </a:solidFill>
          <a:ln w="38100">
            <a:solidFill>
              <a:srgbClr val="8ADE4C"/>
            </a:solidFill>
            <a:miter lim="800000"/>
            <a:headEnd/>
            <a:tailEnd/>
          </a:ln>
          <a:effectLst>
            <a:outerShdw blurRad="127000" dist="101600" dir="2700000" algn="tl" rotWithShape="0">
              <a:schemeClr val="accent2">
                <a:alpha val="46000"/>
              </a:schemeClr>
            </a:outerShdw>
          </a:effectLst>
        </p:spPr>
        <p:txBody>
          <a:bodyPr wrap="square" lIns="45303" tIns="22651" rIns="45303" bIns="22651">
            <a:spAutoFit/>
          </a:bodyPr>
          <a:lstStyle/>
          <a:p>
            <a:pPr algn="ctr" defTabSz="450079" eaLnBrk="0" hangingPunct="0">
              <a:defRPr/>
            </a:pPr>
            <a:r>
              <a:rPr lang="en-US" sz="3200" dirty="0">
                <a:solidFill>
                  <a:schemeClr val="bg1"/>
                </a:solidFill>
                <a:latin typeface="Myriad Pro Semibold"/>
                <a:cs typeface="Myriad Pro Semibold"/>
              </a:rPr>
              <a:t>Introduction</a:t>
            </a:r>
            <a:endParaRPr lang="en-US" sz="2400" dirty="0">
              <a:solidFill>
                <a:schemeClr val="bg1"/>
              </a:solidFill>
              <a:latin typeface="Myriad Pro Semibold"/>
              <a:cs typeface="Myriad Pro Semibold"/>
            </a:endParaRPr>
          </a:p>
        </p:txBody>
      </p:sp>
      <p:sp>
        <p:nvSpPr>
          <p:cNvPr id="50" name="Text Box 6"/>
          <p:cNvSpPr txBox="1">
            <a:spLocks noChangeArrowheads="1"/>
          </p:cNvSpPr>
          <p:nvPr/>
        </p:nvSpPr>
        <p:spPr bwMode="auto">
          <a:xfrm>
            <a:off x="11243469" y="10716067"/>
            <a:ext cx="10159201" cy="13300324"/>
          </a:xfrm>
          <a:prstGeom prst="rect">
            <a:avLst/>
          </a:prstGeom>
          <a:solidFill>
            <a:schemeClr val="bg1"/>
          </a:solidFill>
          <a:ln w="38100">
            <a:solidFill>
              <a:srgbClr val="8ADE4C"/>
            </a:solidFill>
            <a:miter lim="800000"/>
            <a:headEnd/>
            <a:tailEnd/>
          </a:ln>
        </p:spPr>
        <p:txBody>
          <a:bodyPr lIns="349601" tIns="349601" rIns="349601" bIns="349601"/>
          <a:lstStyle/>
          <a:p>
            <a:pPr algn="just">
              <a:buFontTx/>
              <a:buChar char="•"/>
            </a:pPr>
            <a:endParaRPr lang="en-US" sz="2500" dirty="0">
              <a:solidFill>
                <a:srgbClr val="000000"/>
              </a:solidFill>
              <a:latin typeface="Garamond Premr Pro Med"/>
            </a:endParaRPr>
          </a:p>
          <a:p>
            <a:pPr marL="342900" lvl="0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500" b="1" dirty="0">
                <a:solidFill>
                  <a:srgbClr val="000000"/>
                </a:solidFill>
                <a:latin typeface="Garamond Premr Pro Med"/>
              </a:rPr>
              <a:t>Spectral Alignment</a:t>
            </a:r>
            <a:r>
              <a:rPr lang="en-US" altLang="en-US" sz="2500" dirty="0">
                <a:solidFill>
                  <a:srgbClr val="000000"/>
                </a:solidFill>
                <a:latin typeface="Garamond Premr Pro Med"/>
              </a:rPr>
              <a:t>: The WGAN-GP model consistently achieved lower relative band-power errors and smaller MMD to the real distribution compared to the diffusion baseline.</a:t>
            </a:r>
          </a:p>
          <a:p>
            <a:pPr marL="342900" lvl="0" indent="-342900" eaLnBrk="0" hangingPunct="0">
              <a:buFont typeface="Arial" panose="020B0604020202020204" pitchFamily="34" charset="0"/>
              <a:buChar char="•"/>
            </a:pPr>
            <a:endParaRPr lang="en-US" altLang="en-US" sz="2500" dirty="0">
              <a:solidFill>
                <a:srgbClr val="000000"/>
              </a:solidFill>
              <a:latin typeface="Garamond Premr Pro Med"/>
            </a:endParaRPr>
          </a:p>
          <a:p>
            <a:pPr marL="342900" lvl="0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500" b="1" dirty="0">
                <a:solidFill>
                  <a:srgbClr val="000000"/>
                </a:solidFill>
                <a:latin typeface="Garamond Premr Pro Med"/>
              </a:rPr>
              <a:t>Design Factors</a:t>
            </a:r>
            <a:r>
              <a:rPr lang="en-US" altLang="en-US" sz="2500" dirty="0">
                <a:solidFill>
                  <a:srgbClr val="000000"/>
                </a:solidFill>
                <a:latin typeface="Garamond Premr Pro Med"/>
              </a:rPr>
              <a:t>: WGAN performance was likely aided by the projection discriminator explicitly shaping the decision boundary and min-max scaling emphasizing local amplitude dynamics.</a:t>
            </a:r>
          </a:p>
          <a:p>
            <a:pPr marL="342900" lvl="0" indent="-342900" eaLnBrk="0" hangingPunct="0">
              <a:buFont typeface="Arial" panose="020B0604020202020204" pitchFamily="34" charset="0"/>
              <a:buChar char="•"/>
            </a:pPr>
            <a:endParaRPr lang="en-US" altLang="en-US" sz="2500" dirty="0">
              <a:solidFill>
                <a:srgbClr val="000000"/>
              </a:solidFill>
              <a:latin typeface="Garamond Premr Pro Med"/>
            </a:endParaRPr>
          </a:p>
          <a:p>
            <a:pPr marL="342900" lvl="0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500" b="1" dirty="0">
                <a:solidFill>
                  <a:srgbClr val="000000"/>
                </a:solidFill>
                <a:latin typeface="Garamond Premr Pro Med"/>
              </a:rPr>
              <a:t>Diffusion Limitations</a:t>
            </a:r>
            <a:r>
              <a:rPr lang="en-US" altLang="en-US" sz="2500" dirty="0">
                <a:solidFill>
                  <a:srgbClr val="000000"/>
                </a:solidFill>
                <a:latin typeface="Garamond Premr Pro Med"/>
              </a:rPr>
              <a:t>: The diffusion model exhibited wider band-power errors, potentially due to aggressive classifier-free guidance scales and limited sampling steps (50).</a:t>
            </a:r>
          </a:p>
          <a:p>
            <a:pPr marL="342900" lvl="0" indent="-342900" eaLnBrk="0" hangingPunct="0">
              <a:buFont typeface="Arial" panose="020B0604020202020204" pitchFamily="34" charset="0"/>
              <a:buChar char="•"/>
            </a:pPr>
            <a:endParaRPr lang="en-US" altLang="en-US" sz="2500" dirty="0">
              <a:solidFill>
                <a:srgbClr val="000000"/>
              </a:solidFill>
              <a:latin typeface="Garamond Premr Pro Med"/>
            </a:endParaRPr>
          </a:p>
          <a:p>
            <a:pPr marL="342900" lvl="0" indent="-342900" eaLnBrk="0" hangingPunct="0">
              <a:buFont typeface="Arial" panose="020B0604020202020204" pitchFamily="34" charset="0"/>
              <a:buChar char="•"/>
            </a:pPr>
            <a:r>
              <a:rPr lang="en-US" altLang="en-US" sz="2500" b="1" dirty="0">
                <a:solidFill>
                  <a:srgbClr val="000000"/>
                </a:solidFill>
                <a:latin typeface="Garamond Premr Pro Med"/>
              </a:rPr>
              <a:t>Morphology Mismatch</a:t>
            </a:r>
            <a:r>
              <a:rPr lang="en-US" altLang="en-US" sz="2500" dirty="0">
                <a:solidFill>
                  <a:srgbClr val="000000"/>
                </a:solidFill>
                <a:latin typeface="Garamond Premr Pro Med"/>
              </a:rPr>
              <a:t>: Both models showed non-trivial covariance distances, indicating residual mismatches in temporal dependency and inter-channel coupling.</a:t>
            </a:r>
          </a:p>
          <a:p>
            <a:pPr algn="just"/>
            <a:endParaRPr lang="en-US" sz="1400" dirty="0">
              <a:solidFill>
                <a:srgbClr val="000000"/>
              </a:solidFill>
              <a:latin typeface="Garamond Premr Pro Med"/>
              <a:cs typeface="Garamond Premr Pro Med"/>
            </a:endParaRPr>
          </a:p>
        </p:txBody>
      </p:sp>
      <p:sp>
        <p:nvSpPr>
          <p:cNvPr id="59" name="Text Box 20"/>
          <p:cNvSpPr txBox="1">
            <a:spLocks noChangeArrowheads="1"/>
          </p:cNvSpPr>
          <p:nvPr/>
        </p:nvSpPr>
        <p:spPr bwMode="auto">
          <a:xfrm>
            <a:off x="14038881" y="10459273"/>
            <a:ext cx="4375447" cy="538187"/>
          </a:xfrm>
          <a:prstGeom prst="rect">
            <a:avLst/>
          </a:prstGeom>
          <a:solidFill>
            <a:srgbClr val="595959"/>
          </a:solidFill>
          <a:ln w="38100">
            <a:solidFill>
              <a:srgbClr val="8ADE4C"/>
            </a:solidFill>
            <a:miter lim="800000"/>
            <a:headEnd/>
            <a:tailEnd/>
          </a:ln>
          <a:effectLst>
            <a:outerShdw blurRad="127000" dist="101600" dir="2700000" algn="tl" rotWithShape="0">
              <a:schemeClr val="accent2">
                <a:alpha val="46000"/>
              </a:schemeClr>
            </a:outerShdw>
          </a:effectLst>
        </p:spPr>
        <p:txBody>
          <a:bodyPr wrap="square" lIns="45303" tIns="22651" rIns="45303" bIns="22651">
            <a:spAutoFit/>
          </a:bodyPr>
          <a:lstStyle/>
          <a:p>
            <a:pPr algn="ctr" defTabSz="450079" eaLnBrk="0" hangingPunct="0">
              <a:defRPr/>
            </a:pPr>
            <a:r>
              <a:rPr lang="en-US" sz="3200" dirty="0">
                <a:solidFill>
                  <a:schemeClr val="bg1"/>
                </a:solidFill>
                <a:latin typeface="Myriad Pro Semibold"/>
                <a:cs typeface="Myriad Pro Semibold"/>
              </a:rPr>
              <a:t>Results</a:t>
            </a:r>
            <a:endParaRPr lang="en-US" sz="2400" dirty="0">
              <a:solidFill>
                <a:schemeClr val="bg1"/>
              </a:solidFill>
              <a:latin typeface="Myriad Pro Semibold"/>
              <a:cs typeface="Myriad Pro Semibold"/>
            </a:endParaRPr>
          </a:p>
        </p:txBody>
      </p:sp>
      <p:sp>
        <p:nvSpPr>
          <p:cNvPr id="53" name="Text Box 12"/>
          <p:cNvSpPr txBox="1">
            <a:spLocks noChangeArrowheads="1"/>
          </p:cNvSpPr>
          <p:nvPr/>
        </p:nvSpPr>
        <p:spPr bwMode="auto">
          <a:xfrm>
            <a:off x="435084" y="7196203"/>
            <a:ext cx="10119360" cy="2695053"/>
          </a:xfrm>
          <a:prstGeom prst="rect">
            <a:avLst/>
          </a:prstGeom>
          <a:solidFill>
            <a:schemeClr val="bg1"/>
          </a:solidFill>
          <a:ln w="38100">
            <a:solidFill>
              <a:srgbClr val="8ADE4C"/>
            </a:solidFill>
            <a:miter lim="800000"/>
            <a:headEnd/>
            <a:tailEnd/>
          </a:ln>
        </p:spPr>
        <p:txBody>
          <a:bodyPr lIns="349601" tIns="349601" rIns="349601" bIns="349601"/>
          <a:lstStyle/>
          <a:p>
            <a:pPr marL="171459" indent="-171459">
              <a:buFont typeface="Arial"/>
              <a:buChar char="•"/>
            </a:pPr>
            <a:endParaRPr lang="en-US" sz="500" b="1" dirty="0">
              <a:solidFill>
                <a:srgbClr val="000000"/>
              </a:solidFill>
              <a:latin typeface="Garamond Premr Pro Med"/>
              <a:cs typeface="Garamond Premr Pro Med"/>
            </a:endParaRPr>
          </a:p>
          <a:p>
            <a:pPr marL="171459" indent="-171459"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Garamond Premr Pro Med"/>
                <a:cs typeface="Garamond Premr Pro Med"/>
              </a:rPr>
              <a:t>The Problem</a:t>
            </a:r>
            <a:r>
              <a:rPr lang="en-US" sz="2400" dirty="0">
                <a:solidFill>
                  <a:srgbClr val="000000"/>
                </a:solidFill>
                <a:latin typeface="Garamond Premr Pro Med"/>
                <a:cs typeface="Garamond Premr Pro Med"/>
              </a:rPr>
              <a:t>: Real-world EEG recordings are rife with non-neural artifacts that can degrade downstream analysis and confound learning systems.</a:t>
            </a:r>
          </a:p>
          <a:p>
            <a:pPr marL="171459" indent="-171459">
              <a:buFont typeface="Arial"/>
              <a:buChar char="•"/>
            </a:pPr>
            <a:endParaRPr lang="en-US" sz="1800" dirty="0">
              <a:solidFill>
                <a:srgbClr val="000000"/>
              </a:solidFill>
              <a:latin typeface="Garamond Premr Pro Med"/>
              <a:cs typeface="Garamond Premr Pro Med"/>
            </a:endParaRPr>
          </a:p>
          <a:p>
            <a:pPr marL="171459" indent="-171459"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Garamond Premr Pro Med"/>
                <a:cs typeface="Garamond Premr Pro Med"/>
              </a:rPr>
              <a:t>The Gap</a:t>
            </a:r>
            <a:r>
              <a:rPr lang="en-US" sz="2400" dirty="0">
                <a:solidFill>
                  <a:srgbClr val="000000"/>
                </a:solidFill>
                <a:latin typeface="Garamond Premr Pro Med"/>
                <a:cs typeface="Garamond Premr Pro Med"/>
              </a:rPr>
              <a:t>: While artifact removal is well-studied, large public corpora like TUAR remain label-limited for training robust models that generalize across conditions.</a:t>
            </a:r>
          </a:p>
        </p:txBody>
      </p:sp>
      <p:sp>
        <p:nvSpPr>
          <p:cNvPr id="60" name="Text Box 21"/>
          <p:cNvSpPr txBox="1">
            <a:spLocks noChangeArrowheads="1"/>
          </p:cNvSpPr>
          <p:nvPr/>
        </p:nvSpPr>
        <p:spPr bwMode="auto">
          <a:xfrm>
            <a:off x="2623147" y="6927111"/>
            <a:ext cx="5705120" cy="538187"/>
          </a:xfrm>
          <a:prstGeom prst="rect">
            <a:avLst/>
          </a:prstGeom>
          <a:solidFill>
            <a:srgbClr val="595959"/>
          </a:solidFill>
          <a:ln w="38100">
            <a:solidFill>
              <a:srgbClr val="8ADE4C"/>
            </a:solidFill>
            <a:miter lim="800000"/>
            <a:headEnd/>
            <a:tailEnd/>
          </a:ln>
          <a:effectLst>
            <a:outerShdw blurRad="127000" dist="101600" dir="2700000" algn="tl" rotWithShape="0">
              <a:schemeClr val="accent2">
                <a:alpha val="46000"/>
              </a:schemeClr>
            </a:outerShdw>
          </a:effectLst>
        </p:spPr>
        <p:txBody>
          <a:bodyPr wrap="square" lIns="45303" tIns="22651" rIns="45303" bIns="22651">
            <a:spAutoFit/>
          </a:bodyPr>
          <a:lstStyle/>
          <a:p>
            <a:pPr algn="ctr" defTabSz="450079" eaLnBrk="0" hangingPunct="0">
              <a:defRPr/>
            </a:pPr>
            <a:r>
              <a:rPr lang="en-US" sz="3200" dirty="0">
                <a:solidFill>
                  <a:schemeClr val="bg1"/>
                </a:solidFill>
                <a:latin typeface="Myriad Pro Semibold"/>
                <a:cs typeface="Myriad Pro Light"/>
              </a:rPr>
              <a:t>Purpose &amp; Research Question</a:t>
            </a:r>
          </a:p>
        </p:txBody>
      </p:sp>
      <p:sp>
        <p:nvSpPr>
          <p:cNvPr id="64" name="Text Box 2"/>
          <p:cNvSpPr txBox="1">
            <a:spLocks noChangeArrowheads="1"/>
          </p:cNvSpPr>
          <p:nvPr/>
        </p:nvSpPr>
        <p:spPr bwMode="auto">
          <a:xfrm>
            <a:off x="11289484" y="24841200"/>
            <a:ext cx="10119689" cy="2819400"/>
          </a:xfrm>
          <a:prstGeom prst="rect">
            <a:avLst/>
          </a:prstGeom>
          <a:solidFill>
            <a:schemeClr val="bg1"/>
          </a:solidFill>
          <a:ln w="38100">
            <a:solidFill>
              <a:srgbClr val="8ADE4C"/>
            </a:solidFill>
            <a:miter lim="800000"/>
            <a:headEnd/>
            <a:tailEnd/>
          </a:ln>
        </p:spPr>
        <p:txBody>
          <a:bodyPr lIns="349601" tIns="694944" rIns="349601" bIns="349601"/>
          <a:lstStyle/>
          <a:p>
            <a:pPr marL="171459" indent="-171459" algn="just"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Garamond Premr Pro Med"/>
                <a:cs typeface="Garamond Premr Pro Med"/>
              </a:rPr>
              <a:t>Apply with new datasets</a:t>
            </a:r>
          </a:p>
          <a:p>
            <a:pPr marL="171459" indent="-171459" algn="just"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Garamond Premr Pro Med"/>
                <a:cs typeface="Garamond Premr Pro Med"/>
              </a:rPr>
              <a:t>Getting feedback from more clinicians</a:t>
            </a:r>
          </a:p>
          <a:p>
            <a:pPr marL="171459" indent="-171459" algn="just"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Garamond Premr Pro Med"/>
                <a:cs typeface="Garamond Premr Pro Med"/>
              </a:rPr>
              <a:t>Explore additional explainability</a:t>
            </a:r>
          </a:p>
          <a:p>
            <a:pPr marL="497991" lvl="1" indent="-171459" algn="just"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Garamond Premr Pro Med"/>
                <a:cs typeface="Garamond Premr Pro Med"/>
              </a:rPr>
              <a:t>Identify additional differences between natural and synthetic</a:t>
            </a:r>
          </a:p>
          <a:p>
            <a:pPr marL="171459" indent="-171459" algn="just"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Garamond Premr Pro Med"/>
                <a:cs typeface="Garamond Premr Pro Med"/>
              </a:rPr>
              <a:t>Improve and advance current model and evaluation</a:t>
            </a:r>
          </a:p>
        </p:txBody>
      </p:sp>
      <p:sp>
        <p:nvSpPr>
          <p:cNvPr id="65" name="Text Box 25"/>
          <p:cNvSpPr txBox="1">
            <a:spLocks noChangeArrowheads="1"/>
          </p:cNvSpPr>
          <p:nvPr/>
        </p:nvSpPr>
        <p:spPr bwMode="auto">
          <a:xfrm>
            <a:off x="13386137" y="24572107"/>
            <a:ext cx="5693940" cy="538187"/>
          </a:xfrm>
          <a:prstGeom prst="rect">
            <a:avLst/>
          </a:prstGeom>
          <a:solidFill>
            <a:srgbClr val="595959"/>
          </a:solidFill>
          <a:ln w="38100">
            <a:solidFill>
              <a:srgbClr val="8ADE4C"/>
            </a:solidFill>
            <a:miter lim="800000"/>
            <a:headEnd/>
            <a:tailEnd/>
          </a:ln>
          <a:effectLst>
            <a:outerShdw blurRad="127000" dist="101600" dir="2700000" algn="tl" rotWithShape="0">
              <a:schemeClr val="accent2">
                <a:alpha val="46000"/>
              </a:schemeClr>
            </a:outerShdw>
          </a:effectLst>
        </p:spPr>
        <p:txBody>
          <a:bodyPr wrap="square" lIns="45303" tIns="22651" rIns="45303" bIns="22651">
            <a:spAutoFit/>
          </a:bodyPr>
          <a:lstStyle/>
          <a:p>
            <a:pPr algn="ctr" defTabSz="450079" eaLnBrk="0" hangingPunct="0">
              <a:defRPr/>
            </a:pPr>
            <a:r>
              <a:rPr lang="en-US" sz="3200" dirty="0">
                <a:solidFill>
                  <a:schemeClr val="bg1"/>
                </a:solidFill>
                <a:latin typeface="Myriad Pro Semibold"/>
                <a:cs typeface="Myriad Pro Semibold"/>
              </a:rPr>
              <a:t>Directions for Future Research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-32874" y="1507307"/>
            <a:ext cx="21945600" cy="119343"/>
          </a:xfrm>
          <a:prstGeom prst="rect">
            <a:avLst/>
          </a:prstGeom>
          <a:solidFill>
            <a:srgbClr val="8ADE4C"/>
          </a:solidFill>
          <a:ln w="9525" cap="flat" cmpd="sng" algn="ctr">
            <a:solidFill>
              <a:srgbClr val="8ADE4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45720" tIns="22860" rIns="45720" bIns="22860" numCol="1" rtlCol="0" anchor="t" anchorCtr="0" compatLnSpc="1">
            <a:prstTxWarp prst="textNoShape">
              <a:avLst/>
            </a:prstTxWarp>
          </a:bodyPr>
          <a:lstStyle/>
          <a:p>
            <a:pPr defTabSz="437379"/>
            <a:endParaRPr lang="en-US" sz="1150"/>
          </a:p>
        </p:txBody>
      </p:sp>
      <p:sp>
        <p:nvSpPr>
          <p:cNvPr id="67" name="TextBox 66"/>
          <p:cNvSpPr txBox="1"/>
          <p:nvPr/>
        </p:nvSpPr>
        <p:spPr bwMode="auto">
          <a:xfrm>
            <a:off x="479874" y="108007"/>
            <a:ext cx="16478111" cy="141577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lIns="0" tIns="0" rIns="0" bIns="0" rtlCol="0" anchor="t" anchorCtr="0">
            <a:spAutoFit/>
          </a:bodyPr>
          <a:lstStyle/>
          <a:p>
            <a:pPr marL="218292" indent="-218292" defTabSz="438966" eaLnBrk="0" hangingPunct="0">
              <a:defRPr/>
            </a:pPr>
            <a:r>
              <a:rPr lang="en-US" sz="4600" b="1" dirty="0">
                <a:solidFill>
                  <a:schemeClr val="bg1"/>
                </a:solidFill>
                <a:latin typeface="Myriad Pro"/>
                <a:cs typeface="Myriad Pro"/>
              </a:rPr>
              <a:t>ArtifactGen: Benchmarking WGAN-GP vs Diffusion for Label-Aware EEG Artifact Synthesis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1411" y="1781071"/>
            <a:ext cx="15437459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18292" indent="-218292" defTabSz="438966" eaLnBrk="0" hangingPunct="0">
              <a:defRPr/>
            </a:pPr>
            <a:r>
              <a:rPr lang="en-US" sz="3600" b="1" dirty="0">
                <a:solidFill>
                  <a:schemeClr val="bg1"/>
                </a:solidFill>
                <a:latin typeface="Myriad Pro Light"/>
                <a:cs typeface="Myriad Pro Light"/>
              </a:rPr>
              <a:t>Hritik Arasu, Faisal R. Jahangiri</a:t>
            </a:r>
          </a:p>
        </p:txBody>
      </p: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531411" y="24841200"/>
            <a:ext cx="10069377" cy="7550532"/>
          </a:xfrm>
          <a:prstGeom prst="rect">
            <a:avLst/>
          </a:prstGeom>
          <a:solidFill>
            <a:schemeClr val="bg1"/>
          </a:solidFill>
          <a:ln w="38100">
            <a:solidFill>
              <a:srgbClr val="8ADE4C"/>
            </a:solidFill>
            <a:miter lim="800000"/>
            <a:headEnd/>
            <a:tailEnd/>
          </a:ln>
        </p:spPr>
        <p:txBody>
          <a:bodyPr lIns="349601" tIns="349601" rIns="349601" bIns="349601"/>
          <a:lstStyle/>
          <a:p>
            <a:pPr algn="just">
              <a:buFontTx/>
              <a:buChar char="•"/>
            </a:pPr>
            <a:endParaRPr lang="en-US" sz="1200" dirty="0"/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000000"/>
                </a:solidFill>
                <a:latin typeface="Garamond Premr Pro Med"/>
              </a:rPr>
              <a:t>Baseline Performance: </a:t>
            </a:r>
            <a:r>
              <a:rPr lang="en-US" sz="2500" dirty="0">
                <a:solidFill>
                  <a:srgbClr val="000000"/>
                </a:solidFill>
                <a:latin typeface="Garamond Premr Pro Med"/>
              </a:rPr>
              <a:t>For short-horizon artifact synthesis (1–2s), the conditional WGAN-GP remains a strong baseline, outperforming the diffusion model in spectral fidelity in this setting</a:t>
            </a: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000000"/>
              </a:solidFill>
              <a:latin typeface="Garamond Premr Pro Med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000000"/>
                </a:solidFill>
                <a:latin typeface="Garamond Premr Pro Med"/>
              </a:rPr>
              <a:t>Future Directions: </a:t>
            </a:r>
            <a:r>
              <a:rPr lang="en-US" sz="2500" dirty="0">
                <a:solidFill>
                  <a:srgbClr val="000000"/>
                </a:solidFill>
                <a:latin typeface="Garamond Premr Pro Med"/>
              </a:rPr>
              <a:t>Closing the gap for diffusion models will likely require more sampling steps, spectral-consistency objectives (e.g., auxiliary PSD loss), and montage-aware architectures</a:t>
            </a:r>
            <a:r>
              <a:rPr lang="en-US" sz="2500" dirty="0">
                <a:solidFill>
                  <a:srgbClr val="000000"/>
                </a:solidFill>
              </a:rPr>
              <a:t>.</a:t>
            </a:r>
            <a:endParaRPr lang="en-US" sz="2500" dirty="0">
              <a:solidFill>
                <a:srgbClr val="000000"/>
              </a:solidFill>
              <a:latin typeface="Garamond Premr Pro Med"/>
            </a:endParaRPr>
          </a:p>
          <a:p>
            <a:pPr marL="342900" indent="-342900" eaLnBrk="0" hangingPunct="0"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000000"/>
              </a:solidFill>
              <a:latin typeface="Garamond Premr Pro Med"/>
            </a:endParaRPr>
          </a:p>
          <a:p>
            <a:pPr algn="just"/>
            <a:endParaRPr lang="en-US" sz="1200" dirty="0"/>
          </a:p>
        </p:txBody>
      </p:sp>
      <p:sp>
        <p:nvSpPr>
          <p:cNvPr id="61" name="Text Box 25"/>
          <p:cNvSpPr txBox="1">
            <a:spLocks noChangeArrowheads="1"/>
          </p:cNvSpPr>
          <p:nvPr/>
        </p:nvSpPr>
        <p:spPr bwMode="auto">
          <a:xfrm>
            <a:off x="3404071" y="24572107"/>
            <a:ext cx="4379377" cy="538187"/>
          </a:xfrm>
          <a:prstGeom prst="rect">
            <a:avLst/>
          </a:prstGeom>
          <a:solidFill>
            <a:srgbClr val="595959"/>
          </a:solidFill>
          <a:ln w="38100">
            <a:solidFill>
              <a:srgbClr val="8ADE4C"/>
            </a:solidFill>
            <a:miter lim="800000"/>
            <a:headEnd/>
            <a:tailEnd/>
          </a:ln>
          <a:effectLst>
            <a:outerShdw blurRad="127000" dist="101600" dir="2700000" algn="tl" rotWithShape="0">
              <a:schemeClr val="accent2">
                <a:alpha val="46000"/>
              </a:schemeClr>
            </a:outerShdw>
          </a:effectLst>
        </p:spPr>
        <p:txBody>
          <a:bodyPr wrap="square" lIns="45303" tIns="22651" rIns="45303" bIns="22651">
            <a:spAutoFit/>
          </a:bodyPr>
          <a:lstStyle/>
          <a:p>
            <a:pPr algn="ctr" defTabSz="450079" eaLnBrk="0" hangingPunct="0">
              <a:defRPr/>
            </a:pPr>
            <a:r>
              <a:rPr lang="en-US" sz="3200" dirty="0">
                <a:solidFill>
                  <a:schemeClr val="bg1"/>
                </a:solidFill>
                <a:latin typeface="Myriad Pro Semibold"/>
                <a:cs typeface="Myriad Pro Semibold"/>
              </a:rPr>
              <a:t>Conclusions</a:t>
            </a:r>
            <a:endParaRPr lang="en-US" sz="2400" dirty="0">
              <a:solidFill>
                <a:schemeClr val="bg1"/>
              </a:solidFill>
              <a:latin typeface="Myriad Pro Semibold"/>
              <a:cs typeface="Myriad Pro Semibold"/>
            </a:endParaRPr>
          </a:p>
        </p:txBody>
      </p:sp>
      <p:pic>
        <p:nvPicPr>
          <p:cNvPr id="4" name="neurips_logo.pdf" descr="neurips_logo.pdf">
            <a:extLst>
              <a:ext uri="{FF2B5EF4-FFF2-40B4-BE49-F238E27FC236}">
                <a16:creationId xmlns:a16="http://schemas.microsoft.com/office/drawing/2014/main" id="{A4634E73-35EB-1AB8-3F9F-9C2AC6885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5844" y="31233501"/>
            <a:ext cx="2966089" cy="1334740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 descr="A white text on an orange background&#10;&#10;AI-generated content may be incorrect.">
            <a:extLst>
              <a:ext uri="{FF2B5EF4-FFF2-40B4-BE49-F238E27FC236}">
                <a16:creationId xmlns:a16="http://schemas.microsoft.com/office/drawing/2014/main" id="{6AAA31A0-9BFA-1FAB-F467-E7BD342CBC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159" y="94961"/>
            <a:ext cx="3118223" cy="1365276"/>
          </a:xfrm>
          <a:prstGeom prst="rect">
            <a:avLst/>
          </a:prstGeom>
        </p:spPr>
      </p:pic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0788E11-31E3-D52C-C1D1-56AE897A58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9528" y="31099233"/>
            <a:ext cx="1603275" cy="1603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D6612D-5CB5-E918-620D-AFAE82F9CA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99" y="17992142"/>
            <a:ext cx="4637507" cy="46375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9B82C0-BC15-A603-DCF5-E2F50557C6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2286" y="17992142"/>
            <a:ext cx="4637507" cy="46375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2F9252-CCF6-EAA0-130C-851D70558F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17153" y="17753728"/>
            <a:ext cx="8811832" cy="58745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2B6D6F-87CE-6533-4ED3-B11A130D4F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79819" y="6517825"/>
            <a:ext cx="8893569" cy="32613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4E4103-CE4A-020D-4887-EA937FF453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1594" y="28378376"/>
            <a:ext cx="6288571" cy="3930357"/>
          </a:xfrm>
          <a:prstGeom prst="rect">
            <a:avLst/>
          </a:prstGeom>
        </p:spPr>
      </p:pic>
      <p:sp>
        <p:nvSpPr>
          <p:cNvPr id="27" name="Text Box 2">
            <a:extLst>
              <a:ext uri="{FF2B5EF4-FFF2-40B4-BE49-F238E27FC236}">
                <a16:creationId xmlns:a16="http://schemas.microsoft.com/office/drawing/2014/main" id="{16CD2D7D-8710-7491-68F2-BF26DF017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4965" y="28173977"/>
            <a:ext cx="10119689" cy="2819400"/>
          </a:xfrm>
          <a:prstGeom prst="rect">
            <a:avLst/>
          </a:prstGeom>
          <a:solidFill>
            <a:schemeClr val="bg1"/>
          </a:solidFill>
          <a:ln w="38100">
            <a:solidFill>
              <a:srgbClr val="8ADE4C"/>
            </a:solidFill>
            <a:miter lim="800000"/>
            <a:headEnd/>
            <a:tailEnd/>
          </a:ln>
        </p:spPr>
        <p:txBody>
          <a:bodyPr lIns="349601" tIns="694944" rIns="349601" bIns="349601"/>
          <a:lstStyle/>
          <a:p>
            <a:pPr lvl="0" eaLnBrk="0" hangingPunct="0"/>
            <a:r>
              <a:rPr lang="en-US" altLang="en-US" sz="1600" dirty="0">
                <a:solidFill>
                  <a:srgbClr val="000000"/>
                </a:solidFill>
                <a:latin typeface="Garamond Premr Pro Med"/>
              </a:rPr>
              <a:t>A. Hamid, K. Gagliano, S. Rahman, N. Tulin, V. </a:t>
            </a:r>
            <a:r>
              <a:rPr lang="en-US" altLang="en-US" sz="1600" dirty="0" err="1">
                <a:solidFill>
                  <a:srgbClr val="000000"/>
                </a:solidFill>
                <a:latin typeface="Garamond Premr Pro Med"/>
              </a:rPr>
              <a:t>Tchiong</a:t>
            </a:r>
            <a:r>
              <a:rPr lang="en-US" altLang="en-US" sz="1600" dirty="0">
                <a:solidFill>
                  <a:srgbClr val="000000"/>
                </a:solidFill>
                <a:latin typeface="Garamond Premr Pro Med"/>
              </a:rPr>
              <a:t>, I. Obeid, and J. Picone. "The Temple University Artifact Corpus: An annotated corpus of EEG artifacts." 2020 IEEE Signal Processing in Medicine and Biology Symposium (SPMB), pages 1–4, 2020. </a:t>
            </a:r>
          </a:p>
          <a:p>
            <a:pPr lvl="0" eaLnBrk="0" hangingPunct="0"/>
            <a:r>
              <a:rPr lang="en-US" altLang="en-US" sz="1600" dirty="0">
                <a:solidFill>
                  <a:srgbClr val="000000"/>
                </a:solidFill>
                <a:latin typeface="Garamond Premr Pro Med"/>
              </a:rPr>
              <a:t>Ishaan Gulrajani, Faruk Ahmed, Martin </a:t>
            </a:r>
            <a:r>
              <a:rPr lang="en-US" altLang="en-US" sz="1600" dirty="0" err="1">
                <a:solidFill>
                  <a:srgbClr val="000000"/>
                </a:solidFill>
                <a:latin typeface="Garamond Premr Pro Med"/>
              </a:rPr>
              <a:t>Arjovsky</a:t>
            </a:r>
            <a:r>
              <a:rPr lang="en-US" altLang="en-US" sz="1600" dirty="0">
                <a:solidFill>
                  <a:srgbClr val="000000"/>
                </a:solidFill>
                <a:latin typeface="Garamond Premr Pro Med"/>
              </a:rPr>
              <a:t>, Vincent Dumoulin, and Aaron C. Courville. "Improved training of Wasserstein GANs." Advances in Neural Information Processing Systems (</a:t>
            </a:r>
            <a:r>
              <a:rPr lang="en-US" altLang="en-US" sz="1600" dirty="0" err="1">
                <a:solidFill>
                  <a:srgbClr val="000000"/>
                </a:solidFill>
                <a:latin typeface="Garamond Premr Pro Med"/>
              </a:rPr>
              <a:t>NeurIPS</a:t>
            </a:r>
            <a:r>
              <a:rPr lang="en-US" altLang="en-US" sz="1600" dirty="0">
                <a:solidFill>
                  <a:srgbClr val="000000"/>
                </a:solidFill>
                <a:latin typeface="Garamond Premr Pro Med"/>
              </a:rPr>
              <a:t>), 2017. </a:t>
            </a:r>
            <a:br>
              <a:rPr lang="en-US" altLang="en-US" sz="1600" dirty="0">
                <a:solidFill>
                  <a:srgbClr val="000000"/>
                </a:solidFill>
                <a:latin typeface="Garamond Premr Pro Med"/>
              </a:rPr>
            </a:br>
            <a:r>
              <a:rPr lang="en-US" altLang="en-US" sz="1600" dirty="0">
                <a:solidFill>
                  <a:srgbClr val="000000"/>
                </a:solidFill>
                <a:latin typeface="Garamond Premr Pro Med"/>
              </a:rPr>
              <a:t>Ho, Ajay Jain, and Pieter </a:t>
            </a:r>
            <a:r>
              <a:rPr lang="en-US" altLang="en-US" sz="1600" dirty="0" err="1">
                <a:solidFill>
                  <a:srgbClr val="000000"/>
                </a:solidFill>
                <a:latin typeface="Garamond Premr Pro Med"/>
              </a:rPr>
              <a:t>Abbeel</a:t>
            </a:r>
            <a:r>
              <a:rPr lang="en-US" altLang="en-US" sz="1600" dirty="0">
                <a:solidFill>
                  <a:srgbClr val="000000"/>
                </a:solidFill>
                <a:latin typeface="Garamond Premr Pro Med"/>
              </a:rPr>
              <a:t>. "Denoising Diffusion Probabilistic Models." Advances in Neural Information Processing Systems (</a:t>
            </a:r>
            <a:r>
              <a:rPr lang="en-US" altLang="en-US" sz="1600" dirty="0" err="1">
                <a:solidFill>
                  <a:srgbClr val="000000"/>
                </a:solidFill>
                <a:latin typeface="Garamond Premr Pro Med"/>
              </a:rPr>
              <a:t>NeurIPS</a:t>
            </a:r>
            <a:r>
              <a:rPr lang="en-US" altLang="en-US" sz="1600" dirty="0">
                <a:solidFill>
                  <a:srgbClr val="000000"/>
                </a:solidFill>
                <a:latin typeface="Garamond Premr Pro Med"/>
              </a:rPr>
              <a:t>), 2020. </a:t>
            </a:r>
          </a:p>
          <a:p>
            <a:pPr algn="just"/>
            <a:endParaRPr lang="en-US" sz="2500" dirty="0">
              <a:solidFill>
                <a:srgbClr val="000000"/>
              </a:solidFill>
              <a:latin typeface="Garamond Premr Pro Med"/>
              <a:cs typeface="Garamond Premr Pro Med"/>
            </a:endParaRPr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C26BC85A-F3D3-5FCC-006D-67AA20E9E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01618" y="27904884"/>
            <a:ext cx="5693940" cy="538187"/>
          </a:xfrm>
          <a:prstGeom prst="rect">
            <a:avLst/>
          </a:prstGeom>
          <a:solidFill>
            <a:srgbClr val="595959"/>
          </a:solidFill>
          <a:ln w="38100">
            <a:solidFill>
              <a:srgbClr val="8ADE4C"/>
            </a:solidFill>
            <a:miter lim="800000"/>
            <a:headEnd/>
            <a:tailEnd/>
          </a:ln>
          <a:effectLst>
            <a:outerShdw blurRad="127000" dist="101600" dir="2700000" algn="tl" rotWithShape="0">
              <a:schemeClr val="accent2">
                <a:alpha val="46000"/>
              </a:schemeClr>
            </a:outerShdw>
          </a:effectLst>
        </p:spPr>
        <p:txBody>
          <a:bodyPr wrap="square" lIns="45303" tIns="22651" rIns="45303" bIns="22651">
            <a:spAutoFit/>
          </a:bodyPr>
          <a:lstStyle/>
          <a:p>
            <a:pPr algn="ctr" defTabSz="450079" eaLnBrk="0" hangingPunct="0">
              <a:defRPr/>
            </a:pPr>
            <a:r>
              <a:rPr lang="en-US" sz="3200" dirty="0">
                <a:solidFill>
                  <a:schemeClr val="bg1"/>
                </a:solidFill>
                <a:latin typeface="Myriad Pro Semibold"/>
                <a:cs typeface="Myriad Pro Semibold"/>
              </a:rPr>
              <a:t>References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7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64&quot;/&gt;&lt;/object&gt;&lt;/object&gt;&lt;object type=&quot;8&quot; unique_id=&quot;10006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Default Design">
  <a:themeElements>
    <a:clrScheme name="UD1">
      <a:dk1>
        <a:srgbClr val="003C71"/>
      </a:dk1>
      <a:lt1>
        <a:srgbClr val="FFFFFF"/>
      </a:lt1>
      <a:dk2>
        <a:srgbClr val="003C71"/>
      </a:dk2>
      <a:lt2>
        <a:srgbClr val="818181"/>
      </a:lt2>
      <a:accent1>
        <a:srgbClr val="EEE8C5"/>
      </a:accent1>
      <a:accent2>
        <a:srgbClr val="00539F"/>
      </a:accent2>
      <a:accent3>
        <a:srgbClr val="FFD200"/>
      </a:accent3>
      <a:accent4>
        <a:srgbClr val="002663"/>
      </a:accent4>
      <a:accent5>
        <a:srgbClr val="AAE2CA"/>
      </a:accent5>
      <a:accent6>
        <a:srgbClr val="2C2CB6"/>
      </a:accent6>
      <a:hlink>
        <a:srgbClr val="00A0DF"/>
      </a:hlink>
      <a:folHlink>
        <a:srgbClr val="BDBDBD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874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874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auto">
        <a:solidFill>
          <a:schemeClr val="bg1"/>
        </a:solidFill>
        <a:ln w="38100">
          <a:solidFill>
            <a:srgbClr val="000000"/>
          </a:solidFill>
          <a:miter lim="800000"/>
          <a:headEnd/>
          <a:tailEnd/>
        </a:ln>
      </a:spPr>
      <a:bodyPr lIns="699201" tIns="699201" rIns="699201" bIns="699201"/>
      <a:lstStyle>
        <a:defPPr algn="just" eaLnBrk="1" hangingPunct="1">
          <a:buFontTx/>
          <a:buChar char="•"/>
          <a:defRPr sz="240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8821</TotalTime>
  <Words>637</Words>
  <Application>Microsoft Macintosh PowerPoint</Application>
  <PresentationFormat>Custom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Calisto MT</vt:lpstr>
      <vt:lpstr>Garamond Premr Pro Med</vt:lpstr>
      <vt:lpstr>Myriad Pro</vt:lpstr>
      <vt:lpstr>Myriad Pro Light</vt:lpstr>
      <vt:lpstr>Myriad Pro Semibold</vt:lpstr>
      <vt:lpstr>Times New Roman</vt:lpstr>
      <vt:lpstr>Default Design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Diana Struzinski</dc:creator>
  <cp:lastModifiedBy>Arasu, Hritik</cp:lastModifiedBy>
  <cp:revision>205</cp:revision>
  <dcterms:created xsi:type="dcterms:W3CDTF">2001-03-07T08:28:47Z</dcterms:created>
  <dcterms:modified xsi:type="dcterms:W3CDTF">2025-12-05T20:04:25Z</dcterms:modified>
</cp:coreProperties>
</file>